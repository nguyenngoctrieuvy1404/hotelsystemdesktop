
<file path=[Content_Types].xml><?xml version="1.0" encoding="utf-8"?>
<Types xmlns="http://schemas.openxmlformats.org/package/2006/content-types">
  <Default Extension="png" ContentType="image/png"/>
  <Default Extension="svg" ContentType="image/svg+xml"/>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64" r:id="rId3"/>
    <p:sldId id="258" r:id="rId4"/>
    <p:sldId id="260" r:id="rId5"/>
    <p:sldId id="261" r:id="rId6"/>
    <p:sldId id="262" r:id="rId7"/>
    <p:sldId id="265" r:id="rId8"/>
    <p:sldId id="267" r:id="rId9"/>
    <p:sldId id="263" r:id="rId10"/>
    <p:sldId id="266" r:id="rId11"/>
  </p:sldIdLst>
  <p:sldSz cx="14630400" cy="8229600"/>
  <p:notesSz cx="8229600" cy="146304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39BE1"/>
    <a:srgbClr val="D6BBE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63" d="100"/>
          <a:sy n="63" d="100"/>
        </p:scale>
        <p:origin x="32" y="3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033912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1330543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jp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1.png"/><Relationship Id="rId7" Type="http://schemas.openxmlformats.org/officeDocument/2006/relationships/image" Target="../media/image14.svg"/><Relationship Id="rId12" Type="http://schemas.openxmlformats.org/officeDocument/2006/relationships/image" Target="../media/image14.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1.png"/><Relationship Id="rId11" Type="http://schemas.openxmlformats.org/officeDocument/2006/relationships/image" Target="../media/image18.svg"/><Relationship Id="rId5" Type="http://schemas.openxmlformats.org/officeDocument/2006/relationships/image" Target="../media/image10.png"/><Relationship Id="rId10" Type="http://schemas.openxmlformats.org/officeDocument/2006/relationships/image" Target="../media/image13.png"/><Relationship Id="rId4" Type="http://schemas.openxmlformats.org/officeDocument/2006/relationships/image" Target="../media/image9.png"/><Relationship Id="rId9" Type="http://schemas.openxmlformats.org/officeDocument/2006/relationships/image" Target="../media/image16.sv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8.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5.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1.png"/><Relationship Id="rId7" Type="http://schemas.openxmlformats.org/officeDocument/2006/relationships/image" Target="../media/image22.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 Id="rId9" Type="http://schemas.openxmlformats.org/officeDocument/2006/relationships/image" Target="../media/image24.png"/></Relationships>
</file>

<file path=ppt/slides/_rels/slide6.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1.png"/><Relationship Id="rId7" Type="http://schemas.openxmlformats.org/officeDocument/2006/relationships/image" Target="../media/image28.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32.png"/><Relationship Id="rId4" Type="http://schemas.openxmlformats.org/officeDocument/2006/relationships/image" Target="../media/image31.png"/></Relationships>
</file>

<file path=ppt/slides/_rels/slide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32.png"/><Relationship Id="rId4" Type="http://schemas.openxmlformats.org/officeDocument/2006/relationships/image" Target="../media/image31.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1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32.png"/><Relationship Id="rId4" Type="http://schemas.openxmlformats.org/officeDocument/2006/relationships/image" Target="../media/image31.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42" name="Freeform 2">
            <a:extLst>
              <a:ext uri="{FF2B5EF4-FFF2-40B4-BE49-F238E27FC236}">
                <a16:creationId xmlns:a16="http://schemas.microsoft.com/office/drawing/2014/main" id="{B07FE7D7-70AC-3B99-E6FB-FE686197CDAB}"/>
              </a:ext>
            </a:extLst>
          </p:cNvPr>
          <p:cNvSpPr/>
          <p:nvPr/>
        </p:nvSpPr>
        <p:spPr>
          <a:xfrm rot="9508858">
            <a:off x="-1317407" y="373602"/>
            <a:ext cx="18010625" cy="17222660"/>
          </a:xfrm>
          <a:custGeom>
            <a:avLst/>
            <a:gdLst/>
            <a:ahLst/>
            <a:cxnLst/>
            <a:rect l="l" t="t" r="r" b="b"/>
            <a:pathLst>
              <a:path w="18010625" h="17222660">
                <a:moveTo>
                  <a:pt x="0" y="0"/>
                </a:moveTo>
                <a:lnTo>
                  <a:pt x="18010625" y="0"/>
                </a:lnTo>
                <a:lnTo>
                  <a:pt x="18010625" y="17222661"/>
                </a:lnTo>
                <a:lnTo>
                  <a:pt x="0" y="17222661"/>
                </a:lnTo>
                <a:lnTo>
                  <a:pt x="0" y="0"/>
                </a:lnTo>
                <a:close/>
              </a:path>
            </a:pathLst>
          </a:custGeom>
          <a:blipFill>
            <a:blip r:embed="rId4"/>
            <a:stretch>
              <a:fillRect/>
            </a:stretch>
          </a:blipFill>
        </p:spPr>
      </p:sp>
      <p:sp>
        <p:nvSpPr>
          <p:cNvPr id="3" name="Shape 0"/>
          <p:cNvSpPr/>
          <p:nvPr/>
        </p:nvSpPr>
        <p:spPr>
          <a:xfrm>
            <a:off x="0" y="0"/>
            <a:ext cx="14630400" cy="8229600"/>
          </a:xfrm>
          <a:prstGeom prst="rect">
            <a:avLst/>
          </a:prstGeom>
          <a:solidFill>
            <a:srgbClr val="0B0C23">
              <a:alpha val="75000"/>
            </a:srgbClr>
          </a:solidFill>
          <a:ln/>
        </p:spPr>
        <p:txBody>
          <a:bodyPr/>
          <a:lstStyle/>
          <a:p>
            <a:endParaRPr lang="en-US" dirty="0">
              <a:highlight>
                <a:srgbClr val="000000"/>
              </a:highlight>
              <a:latin typeface="Times New Roman" panose="02020603050405020304" pitchFamily="18" charset="0"/>
              <a:cs typeface="Times New Roman" panose="02020603050405020304" pitchFamily="18" charset="0"/>
            </a:endParaRPr>
          </a:p>
        </p:txBody>
      </p:sp>
      <p:sp>
        <p:nvSpPr>
          <p:cNvPr id="7" name="Text 2"/>
          <p:cNvSpPr/>
          <p:nvPr/>
        </p:nvSpPr>
        <p:spPr>
          <a:xfrm>
            <a:off x="1998187" y="3169332"/>
            <a:ext cx="7415927" cy="2765346"/>
          </a:xfrm>
          <a:prstGeom prst="rect">
            <a:avLst/>
          </a:prstGeom>
          <a:noFill/>
          <a:ln/>
        </p:spPr>
        <p:txBody>
          <a:bodyPr wrap="square" rtlCol="0" anchor="t"/>
          <a:lstStyle/>
          <a:p>
            <a:pPr marL="0" indent="0" algn="just">
              <a:lnSpc>
                <a:spcPts val="3110"/>
              </a:lnSpc>
              <a:buNone/>
            </a:pPr>
            <a:endParaRPr lang="en-US" sz="1944" dirty="0">
              <a:latin typeface="Times New Roman" panose="02020603050405020304" pitchFamily="18" charset="0"/>
              <a:cs typeface="Times New Roman" panose="02020603050405020304" pitchFamily="18" charset="0"/>
            </a:endParaRPr>
          </a:p>
        </p:txBody>
      </p:sp>
      <p:sp>
        <p:nvSpPr>
          <p:cNvPr id="8" name="Shape 3"/>
          <p:cNvSpPr/>
          <p:nvPr/>
        </p:nvSpPr>
        <p:spPr>
          <a:xfrm>
            <a:off x="851337" y="7068449"/>
            <a:ext cx="394930" cy="394930"/>
          </a:xfrm>
          <a:prstGeom prst="roundRect">
            <a:avLst>
              <a:gd name="adj" fmla="val 23151155"/>
            </a:avLst>
          </a:prstGeom>
          <a:noFill/>
          <a:ln w="7620">
            <a:solidFill>
              <a:srgbClr val="FFFFFF"/>
            </a:solidFill>
            <a:prstDash val="solid"/>
          </a:ln>
        </p:spPr>
      </p:sp>
      <p:sp>
        <p:nvSpPr>
          <p:cNvPr id="12" name="Shape 3">
            <a:extLst>
              <a:ext uri="{FF2B5EF4-FFF2-40B4-BE49-F238E27FC236}">
                <a16:creationId xmlns:a16="http://schemas.microsoft.com/office/drawing/2014/main" id="{32B75DD4-5743-3A51-3C42-A6E5C81303FE}"/>
              </a:ext>
            </a:extLst>
          </p:cNvPr>
          <p:cNvSpPr/>
          <p:nvPr/>
        </p:nvSpPr>
        <p:spPr>
          <a:xfrm>
            <a:off x="864037" y="6052360"/>
            <a:ext cx="394930" cy="394930"/>
          </a:xfrm>
          <a:prstGeom prst="roundRect">
            <a:avLst>
              <a:gd name="adj" fmla="val 23151155"/>
            </a:avLst>
          </a:prstGeom>
          <a:noFill/>
          <a:ln w="7620">
            <a:solidFill>
              <a:srgbClr val="FFFFFF"/>
            </a:solidFill>
            <a:prstDash val="solid"/>
          </a:ln>
        </p:spPr>
      </p:sp>
      <p:sp>
        <p:nvSpPr>
          <p:cNvPr id="10" name="Text 4"/>
          <p:cNvSpPr/>
          <p:nvPr/>
        </p:nvSpPr>
        <p:spPr>
          <a:xfrm>
            <a:off x="1364931" y="7006486"/>
            <a:ext cx="2144316" cy="431959"/>
          </a:xfrm>
          <a:prstGeom prst="rect">
            <a:avLst/>
          </a:prstGeom>
          <a:noFill/>
          <a:ln/>
        </p:spPr>
        <p:txBody>
          <a:bodyPr wrap="none" rtlCol="0" anchor="t"/>
          <a:lstStyle/>
          <a:p>
            <a:pPr marL="0" indent="0" algn="l">
              <a:lnSpc>
                <a:spcPts val="3402"/>
              </a:lnSpc>
              <a:buNone/>
            </a:pPr>
            <a:r>
              <a:rPr lang="en-US" sz="2160" b="1" dirty="0">
                <a:solidFill>
                  <a:srgbClr val="DAD8E9"/>
                </a:solidFill>
                <a:latin typeface="Times New Roman" panose="02020603050405020304" pitchFamily="18" charset="0"/>
                <a:ea typeface="Mukta" pitchFamily="34" charset="-122"/>
                <a:cs typeface="Times New Roman" panose="02020603050405020304" pitchFamily="18" charset="0"/>
              </a:rPr>
              <a:t>by </a:t>
            </a:r>
            <a:r>
              <a:rPr lang="vi-VN" sz="2160" b="1" dirty="0">
                <a:solidFill>
                  <a:srgbClr val="DAD8E9"/>
                </a:solidFill>
                <a:latin typeface="Times New Roman" panose="02020603050405020304" pitchFamily="18" charset="0"/>
                <a:ea typeface="Mukta" pitchFamily="34" charset="-122"/>
                <a:cs typeface="Times New Roman" panose="02020603050405020304" pitchFamily="18" charset="0"/>
              </a:rPr>
              <a:t>Lục Quang Huy</a:t>
            </a:r>
            <a:endParaRPr lang="en-US" sz="2160" dirty="0">
              <a:latin typeface="Times New Roman" panose="02020603050405020304" pitchFamily="18" charset="0"/>
              <a:cs typeface="Times New Roman" panose="02020603050405020304" pitchFamily="18" charset="0"/>
            </a:endParaRPr>
          </a:p>
        </p:txBody>
      </p:sp>
      <p:sp>
        <p:nvSpPr>
          <p:cNvPr id="13" name="Shape 3">
            <a:extLst>
              <a:ext uri="{FF2B5EF4-FFF2-40B4-BE49-F238E27FC236}">
                <a16:creationId xmlns:a16="http://schemas.microsoft.com/office/drawing/2014/main" id="{F930871D-4706-E1E1-1FA0-188589FF6FB8}"/>
              </a:ext>
            </a:extLst>
          </p:cNvPr>
          <p:cNvSpPr/>
          <p:nvPr/>
        </p:nvSpPr>
        <p:spPr>
          <a:xfrm>
            <a:off x="848797" y="6564192"/>
            <a:ext cx="394930" cy="394930"/>
          </a:xfrm>
          <a:prstGeom prst="roundRect">
            <a:avLst>
              <a:gd name="adj" fmla="val 23151155"/>
            </a:avLst>
          </a:prstGeom>
          <a:noFill/>
          <a:ln w="7620">
            <a:solidFill>
              <a:srgbClr val="FFFFFF"/>
            </a:solidFill>
            <a:prstDash val="solid"/>
          </a:ln>
        </p:spPr>
      </p:sp>
      <p:sp>
        <p:nvSpPr>
          <p:cNvPr id="14" name="Shape 3">
            <a:extLst>
              <a:ext uri="{FF2B5EF4-FFF2-40B4-BE49-F238E27FC236}">
                <a16:creationId xmlns:a16="http://schemas.microsoft.com/office/drawing/2014/main" id="{37C9D667-C482-2938-B4AD-47F61930CD1E}"/>
              </a:ext>
            </a:extLst>
          </p:cNvPr>
          <p:cNvSpPr/>
          <p:nvPr/>
        </p:nvSpPr>
        <p:spPr>
          <a:xfrm>
            <a:off x="848797" y="7588407"/>
            <a:ext cx="394930" cy="394930"/>
          </a:xfrm>
          <a:prstGeom prst="roundRect">
            <a:avLst>
              <a:gd name="adj" fmla="val 23151155"/>
            </a:avLst>
          </a:prstGeom>
          <a:noFill/>
          <a:ln w="7620">
            <a:solidFill>
              <a:srgbClr val="FFFFFF"/>
            </a:solidFill>
            <a:prstDash val="solid"/>
          </a:ln>
        </p:spPr>
      </p:sp>
      <p:sp>
        <p:nvSpPr>
          <p:cNvPr id="16" name="TextBox 15">
            <a:extLst>
              <a:ext uri="{FF2B5EF4-FFF2-40B4-BE49-F238E27FC236}">
                <a16:creationId xmlns:a16="http://schemas.microsoft.com/office/drawing/2014/main" id="{69A3A0F9-037E-69E8-9B28-72C1F4C9BE3B}"/>
              </a:ext>
            </a:extLst>
          </p:cNvPr>
          <p:cNvSpPr txBox="1"/>
          <p:nvPr/>
        </p:nvSpPr>
        <p:spPr>
          <a:xfrm>
            <a:off x="1363544" y="6506103"/>
            <a:ext cx="13848080" cy="500586"/>
          </a:xfrm>
          <a:prstGeom prst="rect">
            <a:avLst/>
          </a:prstGeom>
          <a:noFill/>
        </p:spPr>
        <p:txBody>
          <a:bodyPr wrap="square">
            <a:spAutoFit/>
          </a:bodyPr>
          <a:lstStyle/>
          <a:p>
            <a:pPr marL="0" indent="0" algn="l">
              <a:lnSpc>
                <a:spcPts val="3402"/>
              </a:lnSpc>
              <a:buNone/>
            </a:pPr>
            <a:r>
              <a:rPr lang="en-US" sz="2160" b="1" dirty="0">
                <a:solidFill>
                  <a:srgbClr val="DAD8E9"/>
                </a:solidFill>
                <a:latin typeface="Times New Roman" panose="02020603050405020304" pitchFamily="18" charset="0"/>
                <a:ea typeface="Mukta" pitchFamily="34" charset="-122"/>
                <a:cs typeface="Times New Roman" panose="02020603050405020304" pitchFamily="18" charset="0"/>
              </a:rPr>
              <a:t>by Phạm </a:t>
            </a:r>
            <a:r>
              <a:rPr lang="vi-VN" sz="2160" b="1" dirty="0">
                <a:solidFill>
                  <a:srgbClr val="DAD8E9"/>
                </a:solidFill>
                <a:latin typeface="Times New Roman" panose="02020603050405020304" pitchFamily="18" charset="0"/>
                <a:ea typeface="Mukta" pitchFamily="34" charset="-122"/>
                <a:cs typeface="Times New Roman" panose="02020603050405020304" pitchFamily="18" charset="0"/>
              </a:rPr>
              <a:t>Thanh </a:t>
            </a:r>
            <a:r>
              <a:rPr lang="en-US" sz="2160" b="1" dirty="0">
                <a:solidFill>
                  <a:srgbClr val="DAD8E9"/>
                </a:solidFill>
                <a:latin typeface="Times New Roman" panose="02020603050405020304" pitchFamily="18" charset="0"/>
                <a:ea typeface="Mukta" pitchFamily="34" charset="-122"/>
                <a:cs typeface="Times New Roman" panose="02020603050405020304" pitchFamily="18" charset="0"/>
              </a:rPr>
              <a:t>Phong</a:t>
            </a:r>
            <a:endParaRPr lang="en-US" sz="2160" dirty="0">
              <a:latin typeface="Times New Roman" panose="02020603050405020304" pitchFamily="18" charset="0"/>
              <a:cs typeface="Times New Roman" panose="02020603050405020304" pitchFamily="18" charset="0"/>
            </a:endParaRPr>
          </a:p>
        </p:txBody>
      </p:sp>
      <p:sp>
        <p:nvSpPr>
          <p:cNvPr id="18" name="TextBox 17">
            <a:extLst>
              <a:ext uri="{FF2B5EF4-FFF2-40B4-BE49-F238E27FC236}">
                <a16:creationId xmlns:a16="http://schemas.microsoft.com/office/drawing/2014/main" id="{ABE9409A-2D04-EC12-813B-006981C0E441}"/>
              </a:ext>
            </a:extLst>
          </p:cNvPr>
          <p:cNvSpPr txBox="1"/>
          <p:nvPr/>
        </p:nvSpPr>
        <p:spPr>
          <a:xfrm>
            <a:off x="1363544" y="5976718"/>
            <a:ext cx="12933680" cy="500586"/>
          </a:xfrm>
          <a:prstGeom prst="rect">
            <a:avLst/>
          </a:prstGeom>
          <a:noFill/>
        </p:spPr>
        <p:txBody>
          <a:bodyPr wrap="square">
            <a:spAutoFit/>
          </a:bodyPr>
          <a:lstStyle/>
          <a:p>
            <a:pPr marL="0" indent="0" algn="l">
              <a:lnSpc>
                <a:spcPts val="3402"/>
              </a:lnSpc>
              <a:buNone/>
            </a:pPr>
            <a:r>
              <a:rPr lang="en-US" sz="2160" b="1" dirty="0">
                <a:solidFill>
                  <a:srgbClr val="DAD8E9"/>
                </a:solidFill>
                <a:latin typeface="Times New Roman" panose="02020603050405020304" pitchFamily="18" charset="0"/>
                <a:ea typeface="Mukta" pitchFamily="34" charset="-122"/>
                <a:cs typeface="Times New Roman" panose="02020603050405020304" pitchFamily="18" charset="0"/>
              </a:rPr>
              <a:t>by </a:t>
            </a:r>
            <a:r>
              <a:rPr lang="vi-VN" sz="2160" b="1" dirty="0">
                <a:solidFill>
                  <a:srgbClr val="DAD8E9"/>
                </a:solidFill>
                <a:latin typeface="Times New Roman" panose="02020603050405020304" pitchFamily="18" charset="0"/>
                <a:ea typeface="Mukta" pitchFamily="34" charset="-122"/>
                <a:cs typeface="Times New Roman" panose="02020603050405020304" pitchFamily="18" charset="0"/>
              </a:rPr>
              <a:t>Nguyễn Ngọc Triều Vỹ</a:t>
            </a:r>
            <a:endParaRPr lang="en-US" sz="2160" dirty="0">
              <a:latin typeface="Times New Roman" panose="02020603050405020304" pitchFamily="18" charset="0"/>
              <a:cs typeface="Times New Roman" panose="02020603050405020304" pitchFamily="18" charset="0"/>
            </a:endParaRPr>
          </a:p>
        </p:txBody>
      </p:sp>
      <p:sp>
        <p:nvSpPr>
          <p:cNvPr id="20" name="TextBox 19">
            <a:extLst>
              <a:ext uri="{FF2B5EF4-FFF2-40B4-BE49-F238E27FC236}">
                <a16:creationId xmlns:a16="http://schemas.microsoft.com/office/drawing/2014/main" id="{D9FE2438-9A5F-BB0F-7C79-54EA68DBE98F}"/>
              </a:ext>
            </a:extLst>
          </p:cNvPr>
          <p:cNvSpPr txBox="1"/>
          <p:nvPr/>
        </p:nvSpPr>
        <p:spPr>
          <a:xfrm>
            <a:off x="1363544" y="7529548"/>
            <a:ext cx="12933680" cy="500586"/>
          </a:xfrm>
          <a:prstGeom prst="rect">
            <a:avLst/>
          </a:prstGeom>
          <a:noFill/>
        </p:spPr>
        <p:txBody>
          <a:bodyPr wrap="square">
            <a:spAutoFit/>
          </a:bodyPr>
          <a:lstStyle/>
          <a:p>
            <a:pPr marL="0" indent="0" algn="l">
              <a:lnSpc>
                <a:spcPts val="3402"/>
              </a:lnSpc>
              <a:buNone/>
            </a:pPr>
            <a:r>
              <a:rPr lang="en-US" sz="2160" b="1" dirty="0">
                <a:solidFill>
                  <a:srgbClr val="DAD8E9"/>
                </a:solidFill>
                <a:latin typeface="Times New Roman" panose="02020603050405020304" pitchFamily="18" charset="0"/>
                <a:ea typeface="Mukta" pitchFamily="34" charset="-122"/>
                <a:cs typeface="Times New Roman" panose="02020603050405020304" pitchFamily="18" charset="0"/>
              </a:rPr>
              <a:t>by </a:t>
            </a:r>
            <a:r>
              <a:rPr lang="vi-VN" sz="2160" b="1" dirty="0">
                <a:solidFill>
                  <a:srgbClr val="DAD8E9"/>
                </a:solidFill>
                <a:latin typeface="Times New Roman" panose="02020603050405020304" pitchFamily="18" charset="0"/>
                <a:ea typeface="Mukta" pitchFamily="34" charset="-122"/>
                <a:cs typeface="Times New Roman" panose="02020603050405020304" pitchFamily="18" charset="0"/>
              </a:rPr>
              <a:t>Lê Vĩnh Thái</a:t>
            </a:r>
            <a:endParaRPr lang="en-US" sz="2160" dirty="0">
              <a:latin typeface="Times New Roman" panose="02020603050405020304" pitchFamily="18" charset="0"/>
              <a:cs typeface="Times New Roman" panose="02020603050405020304" pitchFamily="18" charset="0"/>
            </a:endParaRPr>
          </a:p>
        </p:txBody>
      </p:sp>
      <p:sp>
        <p:nvSpPr>
          <p:cNvPr id="24" name="Text 1">
            <a:extLst>
              <a:ext uri="{FF2B5EF4-FFF2-40B4-BE49-F238E27FC236}">
                <a16:creationId xmlns:a16="http://schemas.microsoft.com/office/drawing/2014/main" id="{F34F5956-FB8B-90B6-D304-E8358A2815C8}"/>
              </a:ext>
            </a:extLst>
          </p:cNvPr>
          <p:cNvSpPr/>
          <p:nvPr/>
        </p:nvSpPr>
        <p:spPr>
          <a:xfrm>
            <a:off x="4683621" y="3001183"/>
            <a:ext cx="5263158" cy="685800"/>
          </a:xfrm>
          <a:prstGeom prst="rect">
            <a:avLst/>
          </a:prstGeom>
          <a:noFill/>
          <a:ln/>
        </p:spPr>
        <p:txBody>
          <a:bodyPr wrap="none" rtlCol="0" anchor="t"/>
          <a:lstStyle/>
          <a:p>
            <a:pPr algn="ctr"/>
            <a:r>
              <a:rPr lang="en-US" sz="3500" u="sng" dirty="0">
                <a:solidFill>
                  <a:srgbClr val="D6BBEB"/>
                </a:solidFill>
                <a:latin typeface="Times New Roman" panose="02020603050405020304" pitchFamily="18" charset="0"/>
                <a:cs typeface="Times New Roman" panose="02020603050405020304" pitchFamily="18" charset="0"/>
              </a:rPr>
              <a:t>Luminous Horizon Hotel</a:t>
            </a:r>
          </a:p>
          <a:p>
            <a:endParaRPr lang="en-US" sz="3500" u="sng" dirty="0">
              <a:solidFill>
                <a:srgbClr val="D6BBEB"/>
              </a:solidFill>
              <a:latin typeface="Times New Roman" panose="02020603050405020304" pitchFamily="18" charset="0"/>
              <a:cs typeface="Times New Roman" panose="02020603050405020304" pitchFamily="18" charset="0"/>
            </a:endParaRPr>
          </a:p>
        </p:txBody>
      </p:sp>
      <p:pic>
        <p:nvPicPr>
          <p:cNvPr id="30" name="Picture 29" descr="A logo of a hotel&#10;&#10;Description automatically generated">
            <a:extLst>
              <a:ext uri="{FF2B5EF4-FFF2-40B4-BE49-F238E27FC236}">
                <a16:creationId xmlns:a16="http://schemas.microsoft.com/office/drawing/2014/main" id="{5BF94B87-30C5-CFD3-EC58-48B37CB79CA8}"/>
              </a:ext>
            </a:extLst>
          </p:cNvPr>
          <p:cNvPicPr>
            <a:picLocks noChangeAspect="1"/>
          </p:cNvPicPr>
          <p:nvPr/>
        </p:nvPicPr>
        <p:blipFill>
          <a:blip r:embed="rId5"/>
          <a:stretch>
            <a:fillRect/>
          </a:stretch>
        </p:blipFill>
        <p:spPr>
          <a:xfrm>
            <a:off x="12781075" y="6396548"/>
            <a:ext cx="1672697" cy="1672697"/>
          </a:xfrm>
          <a:prstGeom prst="rect">
            <a:avLst/>
          </a:prstGeom>
        </p:spPr>
      </p:pic>
      <p:sp>
        <p:nvSpPr>
          <p:cNvPr id="32" name="Flowchart: Connector 31">
            <a:extLst>
              <a:ext uri="{FF2B5EF4-FFF2-40B4-BE49-F238E27FC236}">
                <a16:creationId xmlns:a16="http://schemas.microsoft.com/office/drawing/2014/main" id="{85D82848-4E33-1AA4-9155-E68BB146262D}"/>
              </a:ext>
            </a:extLst>
          </p:cNvPr>
          <p:cNvSpPr/>
          <p:nvPr/>
        </p:nvSpPr>
        <p:spPr>
          <a:xfrm>
            <a:off x="853997" y="6029921"/>
            <a:ext cx="415010" cy="424944"/>
          </a:xfrm>
          <a:prstGeom prst="flowChartConnector">
            <a:avLst/>
          </a:prstGeom>
          <a:solidFill>
            <a:srgbClr val="C39BE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C39BE1"/>
              </a:solidFill>
              <a:latin typeface="Times New Roman" panose="02020603050405020304" pitchFamily="18" charset="0"/>
              <a:cs typeface="Times New Roman" panose="02020603050405020304" pitchFamily="18" charset="0"/>
            </a:endParaRPr>
          </a:p>
        </p:txBody>
      </p:sp>
      <p:sp>
        <p:nvSpPr>
          <p:cNvPr id="34" name="Flowchart: Connector 33">
            <a:extLst>
              <a:ext uri="{FF2B5EF4-FFF2-40B4-BE49-F238E27FC236}">
                <a16:creationId xmlns:a16="http://schemas.microsoft.com/office/drawing/2014/main" id="{675CE68E-116A-9969-46C0-B66E1192D877}"/>
              </a:ext>
            </a:extLst>
          </p:cNvPr>
          <p:cNvSpPr/>
          <p:nvPr/>
        </p:nvSpPr>
        <p:spPr>
          <a:xfrm>
            <a:off x="831257" y="7053442"/>
            <a:ext cx="415010" cy="424944"/>
          </a:xfrm>
          <a:prstGeom prst="flowChartConnector">
            <a:avLst/>
          </a:prstGeom>
          <a:solidFill>
            <a:srgbClr val="C39BE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38" name="Freeform 6">
            <a:extLst>
              <a:ext uri="{FF2B5EF4-FFF2-40B4-BE49-F238E27FC236}">
                <a16:creationId xmlns:a16="http://schemas.microsoft.com/office/drawing/2014/main" id="{942E7090-62F2-59D4-CE7C-714DCAFFA55C}"/>
              </a:ext>
            </a:extLst>
          </p:cNvPr>
          <p:cNvSpPr/>
          <p:nvPr/>
        </p:nvSpPr>
        <p:spPr>
          <a:xfrm>
            <a:off x="5086635" y="3697566"/>
            <a:ext cx="4327479" cy="600872"/>
          </a:xfrm>
          <a:custGeom>
            <a:avLst/>
            <a:gdLst/>
            <a:ahLst/>
            <a:cxnLst/>
            <a:rect l="l" t="t" r="r" b="b"/>
            <a:pathLst>
              <a:path w="4327479" h="600872">
                <a:moveTo>
                  <a:pt x="0" y="0"/>
                </a:moveTo>
                <a:lnTo>
                  <a:pt x="4327478" y="0"/>
                </a:lnTo>
                <a:lnTo>
                  <a:pt x="4327478" y="600872"/>
                </a:lnTo>
                <a:lnTo>
                  <a:pt x="0" y="600872"/>
                </a:lnTo>
                <a:lnTo>
                  <a:pt x="0" y="0"/>
                </a:lnTo>
                <a:close/>
              </a:path>
            </a:pathLst>
          </a:custGeom>
          <a:blipFill>
            <a:blip r:embed="rId6"/>
            <a:stretch>
              <a:fillRect t="-71533" b="-71533"/>
            </a:stretch>
          </a:blipFill>
        </p:spPr>
      </p:sp>
      <p:sp>
        <p:nvSpPr>
          <p:cNvPr id="33" name="Flowchart: Connector 32">
            <a:extLst>
              <a:ext uri="{FF2B5EF4-FFF2-40B4-BE49-F238E27FC236}">
                <a16:creationId xmlns:a16="http://schemas.microsoft.com/office/drawing/2014/main" id="{6D0C5324-52E5-85B2-005A-47558BA6EDA4}"/>
              </a:ext>
            </a:extLst>
          </p:cNvPr>
          <p:cNvSpPr/>
          <p:nvPr/>
        </p:nvSpPr>
        <p:spPr>
          <a:xfrm>
            <a:off x="843957" y="6552358"/>
            <a:ext cx="415010" cy="424944"/>
          </a:xfrm>
          <a:prstGeom prst="flowChartConnector">
            <a:avLst/>
          </a:prstGeom>
          <a:solidFill>
            <a:srgbClr val="C39BE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36" name="Flowchart: Connector 35">
            <a:extLst>
              <a:ext uri="{FF2B5EF4-FFF2-40B4-BE49-F238E27FC236}">
                <a16:creationId xmlns:a16="http://schemas.microsoft.com/office/drawing/2014/main" id="{6EC7E67E-D70D-E288-F41D-895FDC7715BD}"/>
              </a:ext>
            </a:extLst>
          </p:cNvPr>
          <p:cNvSpPr/>
          <p:nvPr/>
        </p:nvSpPr>
        <p:spPr>
          <a:xfrm>
            <a:off x="824095" y="7576208"/>
            <a:ext cx="415010" cy="424944"/>
          </a:xfrm>
          <a:prstGeom prst="flowChartConnector">
            <a:avLst/>
          </a:prstGeom>
          <a:solidFill>
            <a:srgbClr val="C39BE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26" name="Text 2">
            <a:extLst>
              <a:ext uri="{FF2B5EF4-FFF2-40B4-BE49-F238E27FC236}">
                <a16:creationId xmlns:a16="http://schemas.microsoft.com/office/drawing/2014/main" id="{2C13837D-19ED-15C9-A12B-2FA36B8970B6}"/>
              </a:ext>
            </a:extLst>
          </p:cNvPr>
          <p:cNvSpPr/>
          <p:nvPr/>
        </p:nvSpPr>
        <p:spPr>
          <a:xfrm>
            <a:off x="764660" y="5345321"/>
            <a:ext cx="2743200" cy="342900"/>
          </a:xfrm>
          <a:prstGeom prst="rect">
            <a:avLst/>
          </a:prstGeom>
          <a:noFill/>
          <a:ln/>
        </p:spPr>
        <p:txBody>
          <a:bodyPr wrap="none" rtlCol="0" anchor="t"/>
          <a:lstStyle/>
          <a:p>
            <a:pPr marL="0" indent="0">
              <a:lnSpc>
                <a:spcPts val="2700"/>
              </a:lnSpc>
              <a:buNone/>
            </a:pPr>
            <a:r>
              <a:rPr lang="vi-VN" sz="2160" dirty="0">
                <a:solidFill>
                  <a:srgbClr val="C6BFEE"/>
                </a:solidFill>
                <a:latin typeface="Times New Roman" panose="02020603050405020304" pitchFamily="18" charset="0"/>
                <a:ea typeface="Prompt" pitchFamily="34" charset="-122"/>
                <a:cs typeface="Times New Roman" panose="02020603050405020304" pitchFamily="18" charset="0"/>
              </a:rPr>
              <a:t>Lớp: 221402</a:t>
            </a:r>
            <a:endParaRPr lang="en-US" sz="2160" dirty="0">
              <a:latin typeface="Times New Roman" panose="02020603050405020304" pitchFamily="18" charset="0"/>
              <a:cs typeface="Times New Roman" panose="02020603050405020304" pitchFamily="18" charset="0"/>
            </a:endParaRPr>
          </a:p>
        </p:txBody>
      </p:sp>
      <p:sp>
        <p:nvSpPr>
          <p:cNvPr id="25" name="Text 2">
            <a:extLst>
              <a:ext uri="{FF2B5EF4-FFF2-40B4-BE49-F238E27FC236}">
                <a16:creationId xmlns:a16="http://schemas.microsoft.com/office/drawing/2014/main" id="{84B81C27-D0A9-227F-EA71-6666398BC995}"/>
              </a:ext>
            </a:extLst>
          </p:cNvPr>
          <p:cNvSpPr/>
          <p:nvPr/>
        </p:nvSpPr>
        <p:spPr>
          <a:xfrm>
            <a:off x="764660" y="4834854"/>
            <a:ext cx="2743200" cy="342900"/>
          </a:xfrm>
          <a:prstGeom prst="rect">
            <a:avLst/>
          </a:prstGeom>
          <a:noFill/>
          <a:ln/>
        </p:spPr>
        <p:txBody>
          <a:bodyPr wrap="none" rtlCol="0" anchor="t"/>
          <a:lstStyle/>
          <a:p>
            <a:pPr marL="0" indent="0">
              <a:lnSpc>
                <a:spcPts val="2700"/>
              </a:lnSpc>
              <a:buNone/>
            </a:pPr>
            <a:r>
              <a:rPr lang="vi-VN" sz="2160" dirty="0">
                <a:solidFill>
                  <a:srgbClr val="C6BFEE"/>
                </a:solidFill>
                <a:latin typeface="Times New Roman" panose="02020603050405020304" pitchFamily="18" charset="0"/>
                <a:ea typeface="Prompt" pitchFamily="34" charset="-122"/>
                <a:cs typeface="Times New Roman" panose="02020603050405020304" pitchFamily="18" charset="0"/>
              </a:rPr>
              <a:t>Giảng Viên Hướng Dẫn: </a:t>
            </a:r>
            <a:r>
              <a:rPr lang="vi-VN" sz="2160" dirty="0" err="1">
                <a:solidFill>
                  <a:srgbClr val="C6BFEE"/>
                </a:solidFill>
                <a:latin typeface="Times New Roman" panose="02020603050405020304" pitchFamily="18" charset="0"/>
                <a:ea typeface="Prompt" pitchFamily="34" charset="-122"/>
                <a:cs typeface="Times New Roman" panose="02020603050405020304" pitchFamily="18" charset="0"/>
              </a:rPr>
              <a:t>Th.S</a:t>
            </a:r>
            <a:r>
              <a:rPr lang="vi-VN" sz="2160" dirty="0">
                <a:solidFill>
                  <a:srgbClr val="C6BFEE"/>
                </a:solidFill>
                <a:latin typeface="Times New Roman" panose="02020603050405020304" pitchFamily="18" charset="0"/>
                <a:ea typeface="Prompt" pitchFamily="34" charset="-122"/>
                <a:cs typeface="Times New Roman" panose="02020603050405020304" pitchFamily="18" charset="0"/>
              </a:rPr>
              <a:t> Đặng Quốc Phong</a:t>
            </a:r>
            <a:endParaRPr lang="en-US" sz="2160" dirty="0">
              <a:latin typeface="Times New Roman" panose="02020603050405020304" pitchFamily="18" charset="0"/>
              <a:cs typeface="Times New Roman" panose="02020603050405020304" pitchFamily="18" charset="0"/>
            </a:endParaRPr>
          </a:p>
        </p:txBody>
      </p:sp>
      <p:sp>
        <p:nvSpPr>
          <p:cNvPr id="23" name="Text 1">
            <a:extLst>
              <a:ext uri="{FF2B5EF4-FFF2-40B4-BE49-F238E27FC236}">
                <a16:creationId xmlns:a16="http://schemas.microsoft.com/office/drawing/2014/main" id="{D5AD8D59-6CE1-6EA4-6B86-49D92E0633FE}"/>
              </a:ext>
            </a:extLst>
          </p:cNvPr>
          <p:cNvSpPr/>
          <p:nvPr/>
        </p:nvSpPr>
        <p:spPr>
          <a:xfrm>
            <a:off x="5151459" y="3702092"/>
            <a:ext cx="4327480" cy="532448"/>
          </a:xfrm>
          <a:prstGeom prst="rect">
            <a:avLst/>
          </a:prstGeom>
          <a:noFill/>
          <a:ln/>
        </p:spPr>
        <p:txBody>
          <a:bodyPr wrap="none" rtlCol="0" anchor="t"/>
          <a:lstStyle/>
          <a:p>
            <a:pPr marL="0" indent="0" algn="ctr">
              <a:lnSpc>
                <a:spcPts val="4193"/>
              </a:lnSpc>
              <a:buNone/>
            </a:pPr>
            <a:r>
              <a:rPr lang="vi-VN" sz="3354" dirty="0">
                <a:solidFill>
                  <a:srgbClr val="7030A0"/>
                </a:solidFill>
                <a:latin typeface="Times New Roman" panose="02020603050405020304" pitchFamily="18" charset="0"/>
                <a:ea typeface="Prompt" pitchFamily="34" charset="-122"/>
                <a:cs typeface="Times New Roman" panose="02020603050405020304" pitchFamily="18" charset="0"/>
              </a:rPr>
              <a:t>Nhóm: 8</a:t>
            </a:r>
            <a:endParaRPr lang="en-US" sz="3354" dirty="0">
              <a:solidFill>
                <a:srgbClr val="7030A0"/>
              </a:solidFill>
              <a:latin typeface="Times New Roman" panose="02020603050405020304" pitchFamily="18" charset="0"/>
              <a:cs typeface="Times New Roman" panose="02020603050405020304" pitchFamily="18" charset="0"/>
            </a:endParaRPr>
          </a:p>
        </p:txBody>
      </p:sp>
      <p:sp>
        <p:nvSpPr>
          <p:cNvPr id="6" name="Text 1"/>
          <p:cNvSpPr/>
          <p:nvPr/>
        </p:nvSpPr>
        <p:spPr>
          <a:xfrm>
            <a:off x="1963102" y="679811"/>
            <a:ext cx="10704195" cy="2838926"/>
          </a:xfrm>
          <a:prstGeom prst="rect">
            <a:avLst/>
          </a:prstGeom>
          <a:noFill/>
          <a:ln/>
        </p:spPr>
        <p:txBody>
          <a:bodyPr wrap="square" rtlCol="0" anchor="t"/>
          <a:lstStyle/>
          <a:p>
            <a:pPr marL="0" indent="0" algn="ctr">
              <a:lnSpc>
                <a:spcPts val="7452"/>
              </a:lnSpc>
              <a:buNone/>
            </a:pPr>
            <a:r>
              <a:rPr lang="en-US" sz="6000" dirty="0" err="1">
                <a:solidFill>
                  <a:srgbClr val="C6BFEE"/>
                </a:solidFill>
                <a:latin typeface="Times New Roman" panose="02020603050405020304" pitchFamily="18" charset="0"/>
                <a:ea typeface="Prompt" pitchFamily="34" charset="-122"/>
                <a:cs typeface="Times New Roman" panose="02020603050405020304" pitchFamily="18" charset="0"/>
              </a:rPr>
              <a:t>QUẢN</a:t>
            </a:r>
            <a:r>
              <a:rPr lang="en-US" sz="6000" dirty="0">
                <a:solidFill>
                  <a:srgbClr val="C6BFEE"/>
                </a:solidFill>
                <a:latin typeface="Times New Roman" panose="02020603050405020304" pitchFamily="18" charset="0"/>
                <a:ea typeface="Prompt" pitchFamily="34" charset="-122"/>
                <a:cs typeface="Times New Roman" panose="02020603050405020304" pitchFamily="18" charset="0"/>
              </a:rPr>
              <a:t> </a:t>
            </a:r>
            <a:r>
              <a:rPr lang="en-US" sz="6000" dirty="0" err="1">
                <a:solidFill>
                  <a:srgbClr val="C6BFEE"/>
                </a:solidFill>
                <a:latin typeface="Times New Roman" panose="02020603050405020304" pitchFamily="18" charset="0"/>
                <a:ea typeface="Prompt" pitchFamily="34" charset="-122"/>
                <a:cs typeface="Times New Roman" panose="02020603050405020304" pitchFamily="18" charset="0"/>
              </a:rPr>
              <a:t>LÝ</a:t>
            </a:r>
            <a:r>
              <a:rPr lang="en-US" sz="6000" dirty="0">
                <a:solidFill>
                  <a:srgbClr val="C6BFEE"/>
                </a:solidFill>
                <a:latin typeface="Times New Roman" panose="02020603050405020304" pitchFamily="18" charset="0"/>
                <a:ea typeface="Prompt" pitchFamily="34" charset="-122"/>
                <a:cs typeface="Times New Roman" panose="02020603050405020304" pitchFamily="18" charset="0"/>
              </a:rPr>
              <a:t> </a:t>
            </a:r>
            <a:r>
              <a:rPr lang="en-US" sz="6000" dirty="0" err="1">
                <a:solidFill>
                  <a:srgbClr val="C6BFEE"/>
                </a:solidFill>
                <a:latin typeface="Times New Roman" panose="02020603050405020304" pitchFamily="18" charset="0"/>
                <a:ea typeface="Prompt" pitchFamily="34" charset="-122"/>
                <a:cs typeface="Times New Roman" panose="02020603050405020304" pitchFamily="18" charset="0"/>
              </a:rPr>
              <a:t>THÔNG</a:t>
            </a:r>
            <a:r>
              <a:rPr lang="en-US" sz="6000" dirty="0">
                <a:solidFill>
                  <a:srgbClr val="C6BFEE"/>
                </a:solidFill>
                <a:latin typeface="Times New Roman" panose="02020603050405020304" pitchFamily="18" charset="0"/>
                <a:ea typeface="Prompt" pitchFamily="34" charset="-122"/>
                <a:cs typeface="Times New Roman" panose="02020603050405020304" pitchFamily="18" charset="0"/>
              </a:rPr>
              <a:t> TIN </a:t>
            </a:r>
            <a:r>
              <a:rPr lang="en-US" sz="6000" dirty="0" err="1">
                <a:solidFill>
                  <a:srgbClr val="C6BFEE"/>
                </a:solidFill>
                <a:latin typeface="Times New Roman" panose="02020603050405020304" pitchFamily="18" charset="0"/>
                <a:ea typeface="Prompt" pitchFamily="34" charset="-122"/>
                <a:cs typeface="Times New Roman" panose="02020603050405020304" pitchFamily="18" charset="0"/>
              </a:rPr>
              <a:t>ĐẶT</a:t>
            </a:r>
            <a:r>
              <a:rPr lang="en-US" sz="6000" dirty="0">
                <a:solidFill>
                  <a:srgbClr val="C6BFEE"/>
                </a:solidFill>
                <a:latin typeface="Times New Roman" panose="02020603050405020304" pitchFamily="18" charset="0"/>
                <a:ea typeface="Prompt" pitchFamily="34" charset="-122"/>
                <a:cs typeface="Times New Roman" panose="02020603050405020304" pitchFamily="18" charset="0"/>
              </a:rPr>
              <a:t> </a:t>
            </a:r>
            <a:r>
              <a:rPr lang="en-US" sz="6000" dirty="0" err="1">
                <a:solidFill>
                  <a:srgbClr val="C6BFEE"/>
                </a:solidFill>
                <a:latin typeface="Times New Roman" panose="02020603050405020304" pitchFamily="18" charset="0"/>
                <a:ea typeface="Prompt" pitchFamily="34" charset="-122"/>
                <a:cs typeface="Times New Roman" panose="02020603050405020304" pitchFamily="18" charset="0"/>
              </a:rPr>
              <a:t>PHÒNG</a:t>
            </a:r>
            <a:r>
              <a:rPr lang="en-US" sz="6000" dirty="0">
                <a:solidFill>
                  <a:srgbClr val="C6BFEE"/>
                </a:solidFill>
                <a:latin typeface="Times New Roman" panose="02020603050405020304" pitchFamily="18" charset="0"/>
                <a:ea typeface="Prompt" pitchFamily="34" charset="-122"/>
                <a:cs typeface="Times New Roman" panose="02020603050405020304" pitchFamily="18" charset="0"/>
              </a:rPr>
              <a:t> </a:t>
            </a:r>
            <a:r>
              <a:rPr lang="en-US" sz="6000" dirty="0" err="1">
                <a:solidFill>
                  <a:srgbClr val="C6BFEE"/>
                </a:solidFill>
                <a:latin typeface="Times New Roman" panose="02020603050405020304" pitchFamily="18" charset="0"/>
                <a:ea typeface="Prompt" pitchFamily="34" charset="-122"/>
                <a:cs typeface="Times New Roman" panose="02020603050405020304" pitchFamily="18" charset="0"/>
              </a:rPr>
              <a:t>KHÁCH</a:t>
            </a:r>
            <a:r>
              <a:rPr lang="en-US" sz="6000" dirty="0">
                <a:solidFill>
                  <a:srgbClr val="C6BFEE"/>
                </a:solidFill>
                <a:latin typeface="Times New Roman" panose="02020603050405020304" pitchFamily="18" charset="0"/>
                <a:ea typeface="Prompt" pitchFamily="34" charset="-122"/>
                <a:cs typeface="Times New Roman" panose="02020603050405020304" pitchFamily="18" charset="0"/>
              </a:rPr>
              <a:t> </a:t>
            </a:r>
            <a:r>
              <a:rPr lang="en-US" sz="6000" dirty="0" err="1">
                <a:solidFill>
                  <a:srgbClr val="C6BFEE"/>
                </a:solidFill>
                <a:latin typeface="Times New Roman" panose="02020603050405020304" pitchFamily="18" charset="0"/>
                <a:ea typeface="Prompt" pitchFamily="34" charset="-122"/>
                <a:cs typeface="Times New Roman" panose="02020603050405020304" pitchFamily="18" charset="0"/>
              </a:rPr>
              <a:t>SẠN</a:t>
            </a:r>
            <a:endParaRPr lang="en-US" sz="6000" dirty="0">
              <a:latin typeface="Times New Roman" panose="02020603050405020304" pitchFamily="18" charset="0"/>
              <a:cs typeface="Times New Roman" panose="02020603050405020304" pitchFamily="18" charset="0"/>
            </a:endParaRPr>
          </a:p>
        </p:txBody>
      </p:sp>
      <p:sp>
        <p:nvSpPr>
          <p:cNvPr id="45" name="Freeform 7">
            <a:extLst>
              <a:ext uri="{FF2B5EF4-FFF2-40B4-BE49-F238E27FC236}">
                <a16:creationId xmlns:a16="http://schemas.microsoft.com/office/drawing/2014/main" id="{C1661617-A89D-4221-974C-7004E5E68087}"/>
              </a:ext>
            </a:extLst>
          </p:cNvPr>
          <p:cNvSpPr/>
          <p:nvPr/>
        </p:nvSpPr>
        <p:spPr>
          <a:xfrm rot="21267954">
            <a:off x="-1760063" y="-1966597"/>
            <a:ext cx="3597907" cy="3671334"/>
          </a:xfrm>
          <a:custGeom>
            <a:avLst/>
            <a:gdLst/>
            <a:ahLst/>
            <a:cxnLst/>
            <a:rect l="l" t="t" r="r" b="b"/>
            <a:pathLst>
              <a:path w="3597907" h="3671334">
                <a:moveTo>
                  <a:pt x="0" y="0"/>
                </a:moveTo>
                <a:lnTo>
                  <a:pt x="3597907" y="0"/>
                </a:lnTo>
                <a:lnTo>
                  <a:pt x="3597907" y="3671334"/>
                </a:lnTo>
                <a:lnTo>
                  <a:pt x="0" y="3671334"/>
                </a:lnTo>
                <a:lnTo>
                  <a:pt x="0" y="0"/>
                </a:lnTo>
                <a:close/>
              </a:path>
            </a:pathLst>
          </a:custGeom>
          <a:blipFill>
            <a:blip r:embed="rId7"/>
            <a:stretch>
              <a:fillRect/>
            </a:stretch>
          </a:blipFill>
        </p:spPr>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B0C23">
              <a:alpha val="75000"/>
            </a:srgbClr>
          </a:solidFill>
          <a:ln/>
        </p:spPr>
        <p:txBody>
          <a:bodyPr/>
          <a:lstStyle/>
          <a:p>
            <a:pPr marL="0" indent="0">
              <a:lnSpc>
                <a:spcPts val="5400"/>
              </a:lnSpc>
              <a:buNone/>
            </a:pPr>
            <a:endParaRPr lang="en-US" sz="1800" dirty="0"/>
          </a:p>
        </p:txBody>
      </p:sp>
      <p:sp>
        <p:nvSpPr>
          <p:cNvPr id="6" name="Text 1"/>
          <p:cNvSpPr/>
          <p:nvPr/>
        </p:nvSpPr>
        <p:spPr>
          <a:xfrm>
            <a:off x="308611" y="772716"/>
            <a:ext cx="8835390" cy="2838926"/>
          </a:xfrm>
          <a:prstGeom prst="rect">
            <a:avLst/>
          </a:prstGeom>
          <a:noFill/>
          <a:ln/>
        </p:spPr>
        <p:txBody>
          <a:bodyPr wrap="square" rtlCol="0" anchor="t"/>
          <a:lstStyle/>
          <a:p>
            <a:pPr marL="0" indent="0" algn="just">
              <a:lnSpc>
                <a:spcPts val="7452"/>
              </a:lnSpc>
              <a:buNone/>
            </a:pPr>
            <a:endParaRPr lang="en-US" sz="5962" dirty="0"/>
          </a:p>
        </p:txBody>
      </p:sp>
      <p:sp>
        <p:nvSpPr>
          <p:cNvPr id="7" name="Text 2"/>
          <p:cNvSpPr/>
          <p:nvPr/>
        </p:nvSpPr>
        <p:spPr>
          <a:xfrm>
            <a:off x="3280414" y="2732127"/>
            <a:ext cx="7415927" cy="2765346"/>
          </a:xfrm>
          <a:prstGeom prst="rect">
            <a:avLst/>
          </a:prstGeom>
          <a:noFill/>
          <a:ln/>
        </p:spPr>
        <p:txBody>
          <a:bodyPr wrap="square" rtlCol="0" anchor="t"/>
          <a:lstStyle/>
          <a:p>
            <a:pPr marL="0" indent="0" algn="just">
              <a:lnSpc>
                <a:spcPts val="3110"/>
              </a:lnSpc>
              <a:buNone/>
            </a:pPr>
            <a:r>
              <a:rPr lang="en-US" sz="1944" dirty="0">
                <a:solidFill>
                  <a:srgbClr val="DAD8E9"/>
                </a:solidFill>
                <a:latin typeface="Times New Roman" panose="02020603050405020304" pitchFamily="18" charset="0"/>
                <a:ea typeface="Mukta" pitchFamily="34" charset="-122"/>
                <a:cs typeface="Times New Roman" panose="02020603050405020304" pitchFamily="18" charset="0"/>
              </a:rPr>
              <a:t> Xã hội ngày càng phát triển, và Dịch vụ là một trong những lĩnh vực có tốc độ tăng trưởng chóng mặt trong những năm gần đây ở Việt Nam nói riêng và thế giới nói chung. Cùng với nó là hàng trăm, hàng nghìn các nhà hàng, khách sạn, các công ty, tập đoàn du lịch được xây dựng và thành lập, đồng thời nhu cầu của con người cũng tăng lên. Công tác quản lý trong các khách sạn ngày càng trở nên phát triển và đổi mới hơn để thích ứng với nhu cầu phát triển của ngành dịch vụ.</a:t>
            </a:r>
            <a:endParaRPr lang="en-US" sz="1944" dirty="0">
              <a:latin typeface="Times New Roman" panose="02020603050405020304" pitchFamily="18" charset="0"/>
              <a:cs typeface="Times New Roman" panose="02020603050405020304" pitchFamily="18" charset="0"/>
            </a:endParaRPr>
          </a:p>
        </p:txBody>
      </p:sp>
      <p:sp>
        <p:nvSpPr>
          <p:cNvPr id="10" name="Text 4"/>
          <p:cNvSpPr/>
          <p:nvPr/>
        </p:nvSpPr>
        <p:spPr>
          <a:xfrm>
            <a:off x="5263821" y="1320462"/>
            <a:ext cx="4205967" cy="431959"/>
          </a:xfrm>
          <a:prstGeom prst="rect">
            <a:avLst/>
          </a:prstGeom>
          <a:noFill/>
          <a:ln/>
        </p:spPr>
        <p:txBody>
          <a:bodyPr wrap="none" rtlCol="0" anchor="t"/>
          <a:lstStyle/>
          <a:p>
            <a:pPr marL="0" indent="0" algn="ctr">
              <a:lnSpc>
                <a:spcPts val="3402"/>
              </a:lnSpc>
              <a:buNone/>
            </a:pPr>
            <a:r>
              <a:rPr lang="vi-VN" sz="5000" dirty="0">
                <a:solidFill>
                  <a:srgbClr val="D6BBEB"/>
                </a:solidFill>
              </a:rPr>
              <a:t>LỜI MỞ</a:t>
            </a:r>
            <a:r>
              <a:rPr lang="vi-VN" sz="5000" dirty="0">
                <a:solidFill>
                  <a:srgbClr val="7030A0"/>
                </a:solidFill>
              </a:rPr>
              <a:t> </a:t>
            </a:r>
            <a:r>
              <a:rPr lang="vi-VN" sz="5000" dirty="0">
                <a:solidFill>
                  <a:srgbClr val="D6BBEB"/>
                </a:solidFill>
              </a:rPr>
              <a:t>ĐẦU</a:t>
            </a:r>
            <a:endParaRPr lang="en-US" sz="5000" dirty="0">
              <a:solidFill>
                <a:srgbClr val="D6BBEB"/>
              </a:solidFill>
            </a:endParaRPr>
          </a:p>
        </p:txBody>
      </p:sp>
      <p:sp>
        <p:nvSpPr>
          <p:cNvPr id="16" name="Freeform 14">
            <a:extLst>
              <a:ext uri="{FF2B5EF4-FFF2-40B4-BE49-F238E27FC236}">
                <a16:creationId xmlns:a16="http://schemas.microsoft.com/office/drawing/2014/main" id="{B6E747F9-E287-444B-F7A3-F9542C158130}"/>
              </a:ext>
            </a:extLst>
          </p:cNvPr>
          <p:cNvSpPr/>
          <p:nvPr/>
        </p:nvSpPr>
        <p:spPr>
          <a:xfrm>
            <a:off x="193076" y="224609"/>
            <a:ext cx="1660363" cy="1562817"/>
          </a:xfrm>
          <a:custGeom>
            <a:avLst/>
            <a:gdLst/>
            <a:ahLst/>
            <a:cxnLst/>
            <a:rect l="l" t="t" r="r" b="b"/>
            <a:pathLst>
              <a:path w="1660363" h="1562817">
                <a:moveTo>
                  <a:pt x="0" y="0"/>
                </a:moveTo>
                <a:lnTo>
                  <a:pt x="1660364" y="0"/>
                </a:lnTo>
                <a:lnTo>
                  <a:pt x="1660364" y="1562817"/>
                </a:lnTo>
                <a:lnTo>
                  <a:pt x="0" y="1562817"/>
                </a:lnTo>
                <a:lnTo>
                  <a:pt x="0" y="0"/>
                </a:lnTo>
                <a:close/>
              </a:path>
            </a:pathLst>
          </a:custGeom>
          <a:blipFill>
            <a:blip r:embed="rId4"/>
            <a:stretch>
              <a:fillRect/>
            </a:stretch>
          </a:blipFill>
        </p:spPr>
        <p:txBody>
          <a:bodyPr/>
          <a:lstStyle/>
          <a:p>
            <a:endParaRPr lang="en-US"/>
          </a:p>
        </p:txBody>
      </p:sp>
      <p:sp>
        <p:nvSpPr>
          <p:cNvPr id="17" name="Freeform 2">
            <a:extLst>
              <a:ext uri="{FF2B5EF4-FFF2-40B4-BE49-F238E27FC236}">
                <a16:creationId xmlns:a16="http://schemas.microsoft.com/office/drawing/2014/main" id="{0C3351E0-01D1-0B38-EFC5-F595CE51C39C}"/>
              </a:ext>
            </a:extLst>
          </p:cNvPr>
          <p:cNvSpPr/>
          <p:nvPr/>
        </p:nvSpPr>
        <p:spPr>
          <a:xfrm>
            <a:off x="10917129" y="70009"/>
            <a:ext cx="5132914" cy="8229600"/>
          </a:xfrm>
          <a:custGeom>
            <a:avLst/>
            <a:gdLst/>
            <a:ahLst/>
            <a:cxnLst/>
            <a:rect l="l" t="t" r="r" b="b"/>
            <a:pathLst>
              <a:path w="9408968" h="10935588">
                <a:moveTo>
                  <a:pt x="0" y="0"/>
                </a:moveTo>
                <a:lnTo>
                  <a:pt x="9408967" y="0"/>
                </a:lnTo>
                <a:lnTo>
                  <a:pt x="9408967" y="10935588"/>
                </a:lnTo>
                <a:lnTo>
                  <a:pt x="0" y="10935588"/>
                </a:lnTo>
                <a:lnTo>
                  <a:pt x="0" y="0"/>
                </a:lnTo>
                <a:close/>
              </a:path>
            </a:pathLst>
          </a:custGeom>
          <a:blipFill>
            <a:blip r:embed="rId5"/>
            <a:stretch>
              <a:fillRect/>
            </a:stretch>
          </a:blipFill>
        </p:spPr>
        <p:txBody>
          <a:bodyPr/>
          <a:lstStyle/>
          <a:p>
            <a:endParaRPr lang="en-US" dirty="0"/>
          </a:p>
        </p:txBody>
      </p:sp>
      <p:sp>
        <p:nvSpPr>
          <p:cNvPr id="19" name="Freeform 11">
            <a:extLst>
              <a:ext uri="{FF2B5EF4-FFF2-40B4-BE49-F238E27FC236}">
                <a16:creationId xmlns:a16="http://schemas.microsoft.com/office/drawing/2014/main" id="{4C34F039-A538-364C-DBEB-A9C39B4BC620}"/>
              </a:ext>
            </a:extLst>
          </p:cNvPr>
          <p:cNvSpPr/>
          <p:nvPr/>
        </p:nvSpPr>
        <p:spPr>
          <a:xfrm>
            <a:off x="837721" y="5497473"/>
            <a:ext cx="1913584" cy="2052101"/>
          </a:xfrm>
          <a:custGeom>
            <a:avLst/>
            <a:gdLst/>
            <a:ahLst/>
            <a:cxnLst/>
            <a:rect l="l" t="t" r="r" b="b"/>
            <a:pathLst>
              <a:path w="1913584" h="2052101">
                <a:moveTo>
                  <a:pt x="0" y="0"/>
                </a:moveTo>
                <a:lnTo>
                  <a:pt x="1913584" y="0"/>
                </a:lnTo>
                <a:lnTo>
                  <a:pt x="1913584" y="2052101"/>
                </a:lnTo>
                <a:lnTo>
                  <a:pt x="0" y="2052101"/>
                </a:lnTo>
                <a:lnTo>
                  <a:pt x="0" y="0"/>
                </a:lnTo>
                <a:close/>
              </a:path>
            </a:pathLst>
          </a:custGeom>
          <a:blipFill>
            <a:blip r:embed="rId6"/>
            <a:stretch>
              <a:fillRect/>
            </a:stretch>
          </a:blipFill>
        </p:spPr>
        <p:txBody>
          <a:bodyPr/>
          <a:lstStyle/>
          <a:p>
            <a:endParaRPr lang="en-US"/>
          </a:p>
        </p:txBody>
      </p:sp>
    </p:spTree>
    <p:extLst>
      <p:ext uri="{BB962C8B-B14F-4D97-AF65-F5344CB8AC3E}">
        <p14:creationId xmlns:p14="http://schemas.microsoft.com/office/powerpoint/2010/main" val="111790903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B0C23">
              <a:alpha val="75000"/>
            </a:srgbClr>
          </a:solidFill>
          <a:ln/>
        </p:spPr>
      </p:sp>
      <p:pic>
        <p:nvPicPr>
          <p:cNvPr id="4" name="Image 1" descr="preencoded.png"/>
          <p:cNvPicPr>
            <a:picLocks noChangeAspect="1"/>
          </p:cNvPicPr>
          <p:nvPr/>
        </p:nvPicPr>
        <p:blipFill>
          <a:blip r:embed="rId4"/>
          <a:stretch>
            <a:fillRect/>
          </a:stretch>
        </p:blipFill>
        <p:spPr>
          <a:xfrm>
            <a:off x="0" y="0"/>
            <a:ext cx="5486400" cy="8229600"/>
          </a:xfrm>
          <a:prstGeom prst="rect">
            <a:avLst/>
          </a:prstGeom>
        </p:spPr>
      </p:pic>
      <p:sp>
        <p:nvSpPr>
          <p:cNvPr id="6" name="Text 1"/>
          <p:cNvSpPr/>
          <p:nvPr/>
        </p:nvSpPr>
        <p:spPr>
          <a:xfrm>
            <a:off x="6157198" y="1293376"/>
            <a:ext cx="5263158" cy="532448"/>
          </a:xfrm>
          <a:prstGeom prst="rect">
            <a:avLst/>
          </a:prstGeom>
          <a:noFill/>
          <a:ln/>
        </p:spPr>
        <p:txBody>
          <a:bodyPr wrap="none" rtlCol="0" anchor="t"/>
          <a:lstStyle/>
          <a:p>
            <a:pPr marL="0" indent="0">
              <a:lnSpc>
                <a:spcPts val="4193"/>
              </a:lnSpc>
              <a:buNone/>
            </a:pPr>
            <a:r>
              <a:rPr lang="en-US" sz="3354" dirty="0">
                <a:solidFill>
                  <a:srgbClr val="C6BFEE"/>
                </a:solidFill>
                <a:latin typeface="Times New Roman" panose="02020603050405020304" pitchFamily="18" charset="0"/>
                <a:ea typeface="Prompt" pitchFamily="34" charset="-122"/>
                <a:cs typeface="Times New Roman" panose="02020603050405020304" pitchFamily="18" charset="0"/>
              </a:rPr>
              <a:t>Xây Dựng Cơ Sở Dữ Liệu</a:t>
            </a:r>
            <a:endParaRPr lang="en-US" sz="3354" dirty="0">
              <a:latin typeface="Times New Roman" panose="02020603050405020304" pitchFamily="18" charset="0"/>
              <a:cs typeface="Times New Roman" panose="02020603050405020304" pitchFamily="18" charset="0"/>
            </a:endParaRPr>
          </a:p>
        </p:txBody>
      </p:sp>
      <p:sp>
        <p:nvSpPr>
          <p:cNvPr id="9" name="Text 4"/>
          <p:cNvSpPr/>
          <p:nvPr/>
        </p:nvSpPr>
        <p:spPr>
          <a:xfrm>
            <a:off x="7498794" y="2304812"/>
            <a:ext cx="2129790" cy="266224"/>
          </a:xfrm>
          <a:prstGeom prst="rect">
            <a:avLst/>
          </a:prstGeom>
          <a:noFill/>
          <a:ln/>
        </p:spPr>
        <p:txBody>
          <a:bodyPr wrap="none" rtlCol="0" anchor="t"/>
          <a:lstStyle/>
          <a:p>
            <a:pPr marL="0" indent="0" algn="l">
              <a:lnSpc>
                <a:spcPts val="2096"/>
              </a:lnSpc>
              <a:buNone/>
            </a:pPr>
            <a:r>
              <a:rPr lang="en-US" sz="1677" dirty="0">
                <a:solidFill>
                  <a:srgbClr val="DAD8E9"/>
                </a:solidFill>
                <a:latin typeface="Times New Roman" panose="02020603050405020304" pitchFamily="18" charset="0"/>
                <a:ea typeface="Prompt" pitchFamily="34" charset="-122"/>
                <a:cs typeface="Times New Roman" panose="02020603050405020304" pitchFamily="18" charset="0"/>
              </a:rPr>
              <a:t>Thiết Kế Bảng</a:t>
            </a:r>
            <a:endParaRPr lang="en-US" sz="1677" dirty="0">
              <a:latin typeface="Times New Roman" panose="02020603050405020304" pitchFamily="18" charset="0"/>
              <a:cs typeface="Times New Roman" panose="02020603050405020304" pitchFamily="18" charset="0"/>
            </a:endParaRPr>
          </a:p>
        </p:txBody>
      </p:sp>
      <p:sp>
        <p:nvSpPr>
          <p:cNvPr id="10" name="Text 5"/>
          <p:cNvSpPr/>
          <p:nvPr/>
        </p:nvSpPr>
        <p:spPr>
          <a:xfrm>
            <a:off x="7498794" y="2685931"/>
            <a:ext cx="6460808" cy="920115"/>
          </a:xfrm>
          <a:prstGeom prst="rect">
            <a:avLst/>
          </a:prstGeom>
          <a:noFill/>
          <a:ln/>
        </p:spPr>
        <p:txBody>
          <a:bodyPr wrap="square" rtlCol="0" anchor="t"/>
          <a:lstStyle/>
          <a:p>
            <a:pPr marL="0" indent="0" algn="l">
              <a:lnSpc>
                <a:spcPts val="2415"/>
              </a:lnSpc>
              <a:buNone/>
            </a:pPr>
            <a:r>
              <a:rPr lang="en-US" sz="1509" dirty="0">
                <a:solidFill>
                  <a:srgbClr val="DAD8E9"/>
                </a:solidFill>
                <a:latin typeface="Times New Roman" panose="02020603050405020304" pitchFamily="18" charset="0"/>
                <a:ea typeface="Mukta" pitchFamily="34" charset="-122"/>
                <a:cs typeface="Times New Roman" panose="02020603050405020304" pitchFamily="18" charset="0"/>
              </a:rPr>
              <a:t>Nhóm đã thiết kế các bảng như KhachHang, Phong, DatPhong, ThuePhong, DichVu, HoaDon, ThanhTienDichVu, DANGNHAP và NhanVien để lưu trữ các thông tin cần thiết cho hệ thống quản lý đặt phòng khách sạn.</a:t>
            </a:r>
            <a:endParaRPr lang="en-US" sz="1509" dirty="0">
              <a:latin typeface="Times New Roman" panose="02020603050405020304" pitchFamily="18" charset="0"/>
              <a:cs typeface="Times New Roman" panose="02020603050405020304" pitchFamily="18" charset="0"/>
            </a:endParaRPr>
          </a:p>
        </p:txBody>
      </p:sp>
      <p:sp>
        <p:nvSpPr>
          <p:cNvPr id="12" name="Text 7"/>
          <p:cNvSpPr/>
          <p:nvPr/>
        </p:nvSpPr>
        <p:spPr>
          <a:xfrm>
            <a:off x="6369844" y="4292560"/>
            <a:ext cx="149543" cy="255627"/>
          </a:xfrm>
          <a:prstGeom prst="rect">
            <a:avLst/>
          </a:prstGeom>
          <a:noFill/>
          <a:ln/>
        </p:spPr>
        <p:txBody>
          <a:bodyPr wrap="none" rtlCol="0" anchor="t"/>
          <a:lstStyle/>
          <a:p>
            <a:pPr marL="0" indent="0" algn="ctr">
              <a:lnSpc>
                <a:spcPts val="2012"/>
              </a:lnSpc>
              <a:buNone/>
            </a:pPr>
            <a:endParaRPr lang="en-US" sz="2012" dirty="0">
              <a:latin typeface="Times New Roman" panose="02020603050405020304" pitchFamily="18" charset="0"/>
              <a:cs typeface="Times New Roman" panose="02020603050405020304" pitchFamily="18" charset="0"/>
            </a:endParaRPr>
          </a:p>
        </p:txBody>
      </p:sp>
      <p:sp>
        <p:nvSpPr>
          <p:cNvPr id="13" name="Text 8"/>
          <p:cNvSpPr/>
          <p:nvPr/>
        </p:nvSpPr>
        <p:spPr>
          <a:xfrm>
            <a:off x="7498794" y="4180761"/>
            <a:ext cx="2129790" cy="266224"/>
          </a:xfrm>
          <a:prstGeom prst="rect">
            <a:avLst/>
          </a:prstGeom>
          <a:noFill/>
          <a:ln/>
        </p:spPr>
        <p:txBody>
          <a:bodyPr wrap="none" rtlCol="0" anchor="t"/>
          <a:lstStyle/>
          <a:p>
            <a:pPr marL="0" indent="0" algn="l">
              <a:lnSpc>
                <a:spcPts val="2096"/>
              </a:lnSpc>
              <a:buNone/>
            </a:pPr>
            <a:r>
              <a:rPr lang="en-US" sz="1677" dirty="0">
                <a:solidFill>
                  <a:srgbClr val="DAD8E9"/>
                </a:solidFill>
                <a:latin typeface="Times New Roman" panose="02020603050405020304" pitchFamily="18" charset="0"/>
                <a:ea typeface="Prompt" pitchFamily="34" charset="-122"/>
                <a:cs typeface="Times New Roman" panose="02020603050405020304" pitchFamily="18" charset="0"/>
              </a:rPr>
              <a:t>Cài Đặt CSDL</a:t>
            </a:r>
            <a:endParaRPr lang="en-US" sz="1677" dirty="0">
              <a:latin typeface="Times New Roman" panose="02020603050405020304" pitchFamily="18" charset="0"/>
              <a:cs typeface="Times New Roman" panose="02020603050405020304" pitchFamily="18" charset="0"/>
            </a:endParaRPr>
          </a:p>
        </p:txBody>
      </p:sp>
      <p:sp>
        <p:nvSpPr>
          <p:cNvPr id="14" name="Text 9"/>
          <p:cNvSpPr/>
          <p:nvPr/>
        </p:nvSpPr>
        <p:spPr>
          <a:xfrm>
            <a:off x="7498794" y="4561880"/>
            <a:ext cx="6460808" cy="613410"/>
          </a:xfrm>
          <a:prstGeom prst="rect">
            <a:avLst/>
          </a:prstGeom>
          <a:noFill/>
          <a:ln/>
        </p:spPr>
        <p:txBody>
          <a:bodyPr wrap="square" rtlCol="0" anchor="t"/>
          <a:lstStyle/>
          <a:p>
            <a:pPr marL="0" indent="0" algn="l">
              <a:lnSpc>
                <a:spcPts val="2415"/>
              </a:lnSpc>
              <a:buNone/>
            </a:pPr>
            <a:r>
              <a:rPr lang="en-US" sz="1509" dirty="0">
                <a:solidFill>
                  <a:srgbClr val="DAD8E9"/>
                </a:solidFill>
                <a:latin typeface="Times New Roman" panose="02020603050405020304" pitchFamily="18" charset="0"/>
                <a:ea typeface="Mukta" pitchFamily="34" charset="-122"/>
                <a:cs typeface="Times New Roman" panose="02020603050405020304" pitchFamily="18" charset="0"/>
              </a:rPr>
              <a:t>Nhóm đã tạo cơ sở dữ liệu QLTTDatPhongKS và thực hiện các câu lệnh SQL để tạo các bảng, thêm dữ liệu mẫu, và định nghĩa các ràng buộc, khóa chính, khóa ngoại.</a:t>
            </a:r>
            <a:endParaRPr lang="en-US" sz="1509" dirty="0">
              <a:latin typeface="Times New Roman" panose="02020603050405020304" pitchFamily="18" charset="0"/>
              <a:cs typeface="Times New Roman" panose="02020603050405020304" pitchFamily="18" charset="0"/>
            </a:endParaRPr>
          </a:p>
        </p:txBody>
      </p:sp>
      <p:sp>
        <p:nvSpPr>
          <p:cNvPr id="17" name="Text 12"/>
          <p:cNvSpPr/>
          <p:nvPr/>
        </p:nvSpPr>
        <p:spPr>
          <a:xfrm>
            <a:off x="7498794" y="5750004"/>
            <a:ext cx="2129790" cy="266224"/>
          </a:xfrm>
          <a:prstGeom prst="rect">
            <a:avLst/>
          </a:prstGeom>
          <a:noFill/>
          <a:ln/>
        </p:spPr>
        <p:txBody>
          <a:bodyPr wrap="none" rtlCol="0" anchor="t"/>
          <a:lstStyle/>
          <a:p>
            <a:pPr marL="0" indent="0" algn="l">
              <a:lnSpc>
                <a:spcPts val="2096"/>
              </a:lnSpc>
              <a:buNone/>
            </a:pPr>
            <a:r>
              <a:rPr lang="en-US" sz="1677" dirty="0">
                <a:solidFill>
                  <a:srgbClr val="DAD8E9"/>
                </a:solidFill>
                <a:latin typeface="Times New Roman" panose="02020603050405020304" pitchFamily="18" charset="0"/>
                <a:ea typeface="Prompt" pitchFamily="34" charset="-122"/>
                <a:cs typeface="Times New Roman" panose="02020603050405020304" pitchFamily="18" charset="0"/>
              </a:rPr>
              <a:t>Thực Hiện Truy Vấn</a:t>
            </a:r>
            <a:endParaRPr lang="en-US" sz="1677" dirty="0">
              <a:latin typeface="Times New Roman" panose="02020603050405020304" pitchFamily="18" charset="0"/>
              <a:cs typeface="Times New Roman" panose="02020603050405020304" pitchFamily="18" charset="0"/>
            </a:endParaRPr>
          </a:p>
        </p:txBody>
      </p:sp>
      <p:sp>
        <p:nvSpPr>
          <p:cNvPr id="18" name="Text 13"/>
          <p:cNvSpPr/>
          <p:nvPr/>
        </p:nvSpPr>
        <p:spPr>
          <a:xfrm>
            <a:off x="7498794" y="6131123"/>
            <a:ext cx="6460808" cy="613410"/>
          </a:xfrm>
          <a:prstGeom prst="rect">
            <a:avLst/>
          </a:prstGeom>
          <a:noFill/>
          <a:ln/>
        </p:spPr>
        <p:txBody>
          <a:bodyPr wrap="square" rtlCol="0" anchor="t"/>
          <a:lstStyle/>
          <a:p>
            <a:pPr marL="0" indent="0" algn="l">
              <a:lnSpc>
                <a:spcPts val="2415"/>
              </a:lnSpc>
              <a:buNone/>
            </a:pPr>
            <a:r>
              <a:rPr lang="en-US" sz="1509" dirty="0">
                <a:solidFill>
                  <a:srgbClr val="DAD8E9"/>
                </a:solidFill>
                <a:latin typeface="Times New Roman" panose="02020603050405020304" pitchFamily="18" charset="0"/>
                <a:ea typeface="Mukta" pitchFamily="34" charset="-122"/>
                <a:cs typeface="Times New Roman" panose="02020603050405020304" pitchFamily="18" charset="0"/>
              </a:rPr>
              <a:t>Nhóm đã viết các truy vấn SQL để lấy dữ liệu, thêm, sửa, xóa dữ liệu trong các bảng, đảm bảo tính toàn vẹn và tính bảo mật của dữ liệu.</a:t>
            </a:r>
            <a:endParaRPr lang="en-US" sz="1509" dirty="0">
              <a:latin typeface="Times New Roman" panose="02020603050405020304" pitchFamily="18" charset="0"/>
              <a:cs typeface="Times New Roman" panose="02020603050405020304" pitchFamily="18" charset="0"/>
            </a:endParaRPr>
          </a:p>
        </p:txBody>
      </p:sp>
      <p:pic>
        <p:nvPicPr>
          <p:cNvPr id="21" name="Picture 20" descr="A screenshot of a computer screen&#10;&#10;Description automatically generated">
            <a:extLst>
              <a:ext uri="{FF2B5EF4-FFF2-40B4-BE49-F238E27FC236}">
                <a16:creationId xmlns:a16="http://schemas.microsoft.com/office/drawing/2014/main" id="{B568F744-F0C5-553B-C53B-8F99C9B8FB2A}"/>
              </a:ext>
            </a:extLst>
          </p:cNvPr>
          <p:cNvPicPr>
            <a:picLocks noChangeAspect="1"/>
          </p:cNvPicPr>
          <p:nvPr/>
        </p:nvPicPr>
        <p:blipFill>
          <a:blip r:embed="rId5"/>
          <a:stretch>
            <a:fillRect/>
          </a:stretch>
        </p:blipFill>
        <p:spPr>
          <a:xfrm>
            <a:off x="325120" y="1216819"/>
            <a:ext cx="4653161" cy="5220255"/>
          </a:xfrm>
          <a:prstGeom prst="rect">
            <a:avLst/>
          </a:prstGeom>
        </p:spPr>
      </p:pic>
      <p:pic>
        <p:nvPicPr>
          <p:cNvPr id="23" name="Graphic 22" descr="Badge 1 with solid fill">
            <a:extLst>
              <a:ext uri="{FF2B5EF4-FFF2-40B4-BE49-F238E27FC236}">
                <a16:creationId xmlns:a16="http://schemas.microsoft.com/office/drawing/2014/main" id="{C6F411F6-942A-EF37-D066-F08CCB08032E}"/>
              </a:ext>
            </a:extLst>
          </p:cNvPr>
          <p:cNvPicPr>
            <a:picLocks noChangeAspect="1"/>
          </p:cNvPicPr>
          <p:nvPr/>
        </p:nvPicPr>
        <p:blipFill>
          <a:blip r:embed="rId6">
            <a:extLst>
              <a:ext uri="{96DAC541-7B7A-43D3-8B79-37D633B846F1}">
                <asvg:svgBlip xmlns="" xmlns:asvg="http://schemas.microsoft.com/office/drawing/2016/SVG/main" r:embed="rId7"/>
              </a:ext>
            </a:extLst>
          </a:blip>
          <a:stretch>
            <a:fillRect/>
          </a:stretch>
        </p:blipFill>
        <p:spPr>
          <a:xfrm>
            <a:off x="6782751" y="2258930"/>
            <a:ext cx="532449" cy="532449"/>
          </a:xfrm>
          <a:prstGeom prst="rect">
            <a:avLst/>
          </a:prstGeom>
        </p:spPr>
      </p:pic>
      <p:pic>
        <p:nvPicPr>
          <p:cNvPr id="25" name="Graphic 24" descr="Badge with solid fill">
            <a:extLst>
              <a:ext uri="{FF2B5EF4-FFF2-40B4-BE49-F238E27FC236}">
                <a16:creationId xmlns:a16="http://schemas.microsoft.com/office/drawing/2014/main" id="{1C793383-14F7-A1C6-2B9A-09916421F843}"/>
              </a:ext>
            </a:extLst>
          </p:cNvPr>
          <p:cNvPicPr>
            <a:picLocks noChangeAspect="1"/>
          </p:cNvPicPr>
          <p:nvPr/>
        </p:nvPicPr>
        <p:blipFill>
          <a:blip r:embed="rId8">
            <a:extLst>
              <a:ext uri="{96DAC541-7B7A-43D3-8B79-37D633B846F1}">
                <asvg:svgBlip xmlns="" xmlns:asvg="http://schemas.microsoft.com/office/drawing/2016/SVG/main" r:embed="rId9"/>
              </a:ext>
            </a:extLst>
          </a:blip>
          <a:stretch>
            <a:fillRect/>
          </a:stretch>
        </p:blipFill>
        <p:spPr>
          <a:xfrm>
            <a:off x="6782751" y="4114800"/>
            <a:ext cx="532449" cy="532449"/>
          </a:xfrm>
          <a:prstGeom prst="rect">
            <a:avLst/>
          </a:prstGeom>
        </p:spPr>
      </p:pic>
      <p:pic>
        <p:nvPicPr>
          <p:cNvPr id="27" name="Graphic 26" descr="Badge 3 with solid fill">
            <a:extLst>
              <a:ext uri="{FF2B5EF4-FFF2-40B4-BE49-F238E27FC236}">
                <a16:creationId xmlns:a16="http://schemas.microsoft.com/office/drawing/2014/main" id="{A8953649-05F5-7FA9-12BC-0817DA001FFC}"/>
              </a:ext>
            </a:extLst>
          </p:cNvPr>
          <p:cNvPicPr>
            <a:picLocks noChangeAspect="1"/>
          </p:cNvPicPr>
          <p:nvPr/>
        </p:nvPicPr>
        <p:blipFill>
          <a:blip r:embed="rId10">
            <a:extLst>
              <a:ext uri="{96DAC541-7B7A-43D3-8B79-37D633B846F1}">
                <asvg:svgBlip xmlns="" xmlns:asvg="http://schemas.microsoft.com/office/drawing/2016/SVG/main" r:embed="rId11"/>
              </a:ext>
            </a:extLst>
          </a:blip>
          <a:stretch>
            <a:fillRect/>
          </a:stretch>
        </p:blipFill>
        <p:spPr>
          <a:xfrm>
            <a:off x="6782751" y="5639751"/>
            <a:ext cx="532449" cy="532449"/>
          </a:xfrm>
          <a:prstGeom prst="rect">
            <a:avLst/>
          </a:prstGeom>
        </p:spPr>
      </p:pic>
      <p:sp>
        <p:nvSpPr>
          <p:cNvPr id="28" name="Freeform 5">
            <a:extLst>
              <a:ext uri="{FF2B5EF4-FFF2-40B4-BE49-F238E27FC236}">
                <a16:creationId xmlns:a16="http://schemas.microsoft.com/office/drawing/2014/main" id="{B5024841-B2DA-C6EE-7B73-10E96DB6C1E8}"/>
              </a:ext>
            </a:extLst>
          </p:cNvPr>
          <p:cNvSpPr/>
          <p:nvPr/>
        </p:nvSpPr>
        <p:spPr>
          <a:xfrm>
            <a:off x="11920195" y="165454"/>
            <a:ext cx="2567255" cy="1562817"/>
          </a:xfrm>
          <a:custGeom>
            <a:avLst/>
            <a:gdLst/>
            <a:ahLst/>
            <a:cxnLst/>
            <a:rect l="l" t="t" r="r" b="b"/>
            <a:pathLst>
              <a:path w="2567255" h="1562817">
                <a:moveTo>
                  <a:pt x="0" y="0"/>
                </a:moveTo>
                <a:lnTo>
                  <a:pt x="2567256" y="0"/>
                </a:lnTo>
                <a:lnTo>
                  <a:pt x="2567256" y="1562817"/>
                </a:lnTo>
                <a:lnTo>
                  <a:pt x="0" y="1562817"/>
                </a:lnTo>
                <a:lnTo>
                  <a:pt x="0" y="0"/>
                </a:lnTo>
                <a:close/>
              </a:path>
            </a:pathLst>
          </a:custGeom>
          <a:blipFill>
            <a:blip r:embed="rId12"/>
            <a:stretch>
              <a:fillRect/>
            </a:stretch>
          </a:blipFill>
        </p:spPr>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18" name="Freeform 15">
            <a:extLst>
              <a:ext uri="{FF2B5EF4-FFF2-40B4-BE49-F238E27FC236}">
                <a16:creationId xmlns:a16="http://schemas.microsoft.com/office/drawing/2014/main" id="{895260C6-54E6-FF73-15EF-67DBCAB9D592}"/>
              </a:ext>
            </a:extLst>
          </p:cNvPr>
          <p:cNvSpPr/>
          <p:nvPr/>
        </p:nvSpPr>
        <p:spPr>
          <a:xfrm rot="3410310">
            <a:off x="2710988" y="-5549129"/>
            <a:ext cx="9585327" cy="20088905"/>
          </a:xfrm>
          <a:custGeom>
            <a:avLst/>
            <a:gdLst/>
            <a:ahLst/>
            <a:cxnLst/>
            <a:rect l="l" t="t" r="r" b="b"/>
            <a:pathLst>
              <a:path w="7210834" h="5994006">
                <a:moveTo>
                  <a:pt x="0" y="0"/>
                </a:moveTo>
                <a:lnTo>
                  <a:pt x="7210834" y="0"/>
                </a:lnTo>
                <a:lnTo>
                  <a:pt x="7210834" y="5994006"/>
                </a:lnTo>
                <a:lnTo>
                  <a:pt x="0" y="5994006"/>
                </a:lnTo>
                <a:lnTo>
                  <a:pt x="0" y="0"/>
                </a:lnTo>
                <a:close/>
              </a:path>
            </a:pathLst>
          </a:custGeom>
          <a:blipFill>
            <a:blip r:embed="rId4"/>
            <a:stretch>
              <a:fillRect/>
            </a:stretch>
          </a:blipFill>
        </p:spPr>
      </p:sp>
      <p:sp>
        <p:nvSpPr>
          <p:cNvPr id="3" name="Shape 0"/>
          <p:cNvSpPr/>
          <p:nvPr/>
        </p:nvSpPr>
        <p:spPr>
          <a:xfrm>
            <a:off x="0" y="0"/>
            <a:ext cx="14630400" cy="8229600"/>
          </a:xfrm>
          <a:prstGeom prst="rect">
            <a:avLst/>
          </a:prstGeom>
          <a:solidFill>
            <a:srgbClr val="0B0C23">
              <a:alpha val="75000"/>
            </a:srgbClr>
          </a:solidFill>
          <a:ln/>
        </p:spPr>
      </p:sp>
      <p:sp>
        <p:nvSpPr>
          <p:cNvPr id="4" name="Text 1"/>
          <p:cNvSpPr/>
          <p:nvPr/>
        </p:nvSpPr>
        <p:spPr>
          <a:xfrm>
            <a:off x="1321356" y="485223"/>
            <a:ext cx="5563791" cy="685800"/>
          </a:xfrm>
          <a:prstGeom prst="rect">
            <a:avLst/>
          </a:prstGeom>
          <a:noFill/>
          <a:ln/>
        </p:spPr>
        <p:txBody>
          <a:bodyPr wrap="none" rtlCol="0" anchor="t"/>
          <a:lstStyle/>
          <a:p>
            <a:pPr marL="0" indent="0">
              <a:lnSpc>
                <a:spcPts val="5400"/>
              </a:lnSpc>
              <a:buNone/>
            </a:pPr>
            <a:r>
              <a:rPr lang="en-US" sz="4320" dirty="0">
                <a:solidFill>
                  <a:srgbClr val="C6BFEE"/>
                </a:solidFill>
                <a:latin typeface="Times New Roman" panose="02020603050405020304" pitchFamily="18" charset="0"/>
                <a:ea typeface="Prompt" pitchFamily="34" charset="-122"/>
                <a:cs typeface="Times New Roman" panose="02020603050405020304" pitchFamily="18" charset="0"/>
              </a:rPr>
              <a:t>Giao Diện Ứng Dụng</a:t>
            </a:r>
            <a:endParaRPr lang="en-US" sz="4320" dirty="0">
              <a:latin typeface="Times New Roman" panose="02020603050405020304" pitchFamily="18" charset="0"/>
              <a:cs typeface="Times New Roman" panose="02020603050405020304" pitchFamily="18" charset="0"/>
            </a:endParaRPr>
          </a:p>
        </p:txBody>
      </p:sp>
      <p:pic>
        <p:nvPicPr>
          <p:cNvPr id="5" name="Image 1" descr="preencoded.png"/>
          <p:cNvPicPr>
            <a:picLocks noChangeAspect="1"/>
          </p:cNvPicPr>
          <p:nvPr/>
        </p:nvPicPr>
        <p:blipFill>
          <a:blip r:embed="rId5"/>
          <a:stretch>
            <a:fillRect/>
          </a:stretch>
        </p:blipFill>
        <p:spPr>
          <a:xfrm>
            <a:off x="1321356" y="1636035"/>
            <a:ext cx="3749040" cy="2642119"/>
          </a:xfrm>
          <a:prstGeom prst="rect">
            <a:avLst/>
          </a:prstGeom>
        </p:spPr>
      </p:pic>
      <p:sp>
        <p:nvSpPr>
          <p:cNvPr id="6" name="Text 2"/>
          <p:cNvSpPr/>
          <p:nvPr/>
        </p:nvSpPr>
        <p:spPr>
          <a:xfrm>
            <a:off x="2194560" y="4586764"/>
            <a:ext cx="2743200" cy="342900"/>
          </a:xfrm>
          <a:prstGeom prst="rect">
            <a:avLst/>
          </a:prstGeom>
          <a:noFill/>
          <a:ln/>
        </p:spPr>
        <p:txBody>
          <a:bodyPr wrap="none" rtlCol="0" anchor="t"/>
          <a:lstStyle/>
          <a:p>
            <a:pPr marL="0" indent="0" algn="l">
              <a:lnSpc>
                <a:spcPts val="2700"/>
              </a:lnSpc>
              <a:buNone/>
            </a:pPr>
            <a:r>
              <a:rPr lang="en-US" sz="2160" dirty="0">
                <a:solidFill>
                  <a:srgbClr val="DAD8E9"/>
                </a:solidFill>
                <a:latin typeface="Times New Roman" panose="02020603050405020304" pitchFamily="18" charset="0"/>
                <a:ea typeface="Prompt" pitchFamily="34" charset="-122"/>
                <a:cs typeface="Times New Roman" panose="02020603050405020304" pitchFamily="18" charset="0"/>
              </a:rPr>
              <a:t>Đăng Nhập</a:t>
            </a:r>
            <a:endParaRPr lang="en-US" sz="2160" dirty="0">
              <a:latin typeface="Times New Roman" panose="02020603050405020304" pitchFamily="18" charset="0"/>
              <a:cs typeface="Times New Roman" panose="02020603050405020304" pitchFamily="18" charset="0"/>
            </a:endParaRPr>
          </a:p>
        </p:txBody>
      </p:sp>
      <p:sp>
        <p:nvSpPr>
          <p:cNvPr id="7" name="Text 3"/>
          <p:cNvSpPr/>
          <p:nvPr/>
        </p:nvSpPr>
        <p:spPr>
          <a:xfrm>
            <a:off x="1321356" y="5077778"/>
            <a:ext cx="3749040" cy="1975247"/>
          </a:xfrm>
          <a:prstGeom prst="rect">
            <a:avLst/>
          </a:prstGeom>
          <a:noFill/>
          <a:ln/>
        </p:spPr>
        <p:txBody>
          <a:bodyPr wrap="square" rtlCol="0" anchor="t"/>
          <a:lstStyle/>
          <a:p>
            <a:pPr marL="0" indent="0" algn="just">
              <a:lnSpc>
                <a:spcPts val="3110"/>
              </a:lnSpc>
              <a:buNone/>
            </a:pPr>
            <a:r>
              <a:rPr lang="en-US" sz="1944" dirty="0">
                <a:solidFill>
                  <a:srgbClr val="DAD8E9"/>
                </a:solidFill>
                <a:latin typeface="Times New Roman" panose="02020603050405020304" pitchFamily="18" charset="0"/>
                <a:ea typeface="Mukta" pitchFamily="34" charset="-122"/>
                <a:cs typeface="Times New Roman" panose="02020603050405020304" pitchFamily="18" charset="0"/>
              </a:rPr>
              <a:t>Giao diện đăng nhập cho phép nhân viên đăng nhập vào hệ thống quản lý thông tin đặt phòng khách sạn, với các quyền hạn khác nhau tùy theo vai trò của từng nhân viên.</a:t>
            </a:r>
            <a:endParaRPr lang="en-US" sz="1944" dirty="0">
              <a:latin typeface="Times New Roman" panose="02020603050405020304" pitchFamily="18" charset="0"/>
              <a:cs typeface="Times New Roman" panose="02020603050405020304" pitchFamily="18" charset="0"/>
            </a:endParaRPr>
          </a:p>
        </p:txBody>
      </p:sp>
      <p:pic>
        <p:nvPicPr>
          <p:cNvPr id="8" name="Image 2" descr="preencoded.png"/>
          <p:cNvPicPr>
            <a:picLocks noChangeAspect="1"/>
          </p:cNvPicPr>
          <p:nvPr/>
        </p:nvPicPr>
        <p:blipFill>
          <a:blip r:embed="rId6"/>
          <a:stretch>
            <a:fillRect/>
          </a:stretch>
        </p:blipFill>
        <p:spPr>
          <a:xfrm>
            <a:off x="5440680" y="1636036"/>
            <a:ext cx="3749040" cy="2642118"/>
          </a:xfrm>
          <a:prstGeom prst="rect">
            <a:avLst/>
          </a:prstGeom>
        </p:spPr>
      </p:pic>
      <p:sp>
        <p:nvSpPr>
          <p:cNvPr id="9" name="Text 4"/>
          <p:cNvSpPr/>
          <p:nvPr/>
        </p:nvSpPr>
        <p:spPr>
          <a:xfrm>
            <a:off x="5810964" y="4586764"/>
            <a:ext cx="2743200" cy="342900"/>
          </a:xfrm>
          <a:prstGeom prst="rect">
            <a:avLst/>
          </a:prstGeom>
          <a:noFill/>
          <a:ln/>
        </p:spPr>
        <p:txBody>
          <a:bodyPr wrap="none" rtlCol="0" anchor="t"/>
          <a:lstStyle/>
          <a:p>
            <a:pPr marL="0" indent="0" algn="ctr">
              <a:lnSpc>
                <a:spcPts val="2700"/>
              </a:lnSpc>
              <a:buNone/>
            </a:pPr>
            <a:r>
              <a:rPr lang="en-US" sz="2160" dirty="0">
                <a:solidFill>
                  <a:srgbClr val="DAD8E9"/>
                </a:solidFill>
                <a:latin typeface="Times New Roman" panose="02020603050405020304" pitchFamily="18" charset="0"/>
                <a:ea typeface="Prompt" pitchFamily="34" charset="-122"/>
                <a:cs typeface="Times New Roman" panose="02020603050405020304" pitchFamily="18" charset="0"/>
              </a:rPr>
              <a:t>Trang Chủ</a:t>
            </a:r>
            <a:endParaRPr lang="en-US" sz="2160" dirty="0">
              <a:latin typeface="Times New Roman" panose="02020603050405020304" pitchFamily="18" charset="0"/>
              <a:cs typeface="Times New Roman" panose="02020603050405020304" pitchFamily="18" charset="0"/>
            </a:endParaRPr>
          </a:p>
        </p:txBody>
      </p:sp>
      <p:sp>
        <p:nvSpPr>
          <p:cNvPr id="10" name="Text 5"/>
          <p:cNvSpPr/>
          <p:nvPr/>
        </p:nvSpPr>
        <p:spPr>
          <a:xfrm>
            <a:off x="5440680" y="5077778"/>
            <a:ext cx="3749040" cy="2370296"/>
          </a:xfrm>
          <a:prstGeom prst="rect">
            <a:avLst/>
          </a:prstGeom>
          <a:noFill/>
          <a:ln/>
        </p:spPr>
        <p:txBody>
          <a:bodyPr wrap="square" rtlCol="0" anchor="t"/>
          <a:lstStyle/>
          <a:p>
            <a:pPr marL="0" indent="0" algn="just">
              <a:lnSpc>
                <a:spcPts val="3110"/>
              </a:lnSpc>
              <a:buNone/>
            </a:pPr>
            <a:r>
              <a:rPr lang="en-US" sz="1944" dirty="0">
                <a:solidFill>
                  <a:srgbClr val="DAD8E9"/>
                </a:solidFill>
                <a:latin typeface="Times New Roman" panose="02020603050405020304" pitchFamily="18" charset="0"/>
                <a:ea typeface="Mukta" pitchFamily="34" charset="-122"/>
                <a:cs typeface="Times New Roman" panose="02020603050405020304" pitchFamily="18" charset="0"/>
              </a:rPr>
              <a:t>Giao diện trang chủ cung cấp các chức năng chính như quản lý thông tin khách hàng, đặt phòng, thuê phòng, thanh toán, quản lý hóa đơn, thống kê doanh thu, và quản lý nhân viên.</a:t>
            </a:r>
            <a:endParaRPr lang="en-US" sz="1944" dirty="0">
              <a:latin typeface="Times New Roman" panose="02020603050405020304" pitchFamily="18" charset="0"/>
              <a:cs typeface="Times New Roman" panose="02020603050405020304" pitchFamily="18" charset="0"/>
            </a:endParaRPr>
          </a:p>
        </p:txBody>
      </p:sp>
      <p:sp>
        <p:nvSpPr>
          <p:cNvPr id="12" name="Text 6"/>
          <p:cNvSpPr/>
          <p:nvPr/>
        </p:nvSpPr>
        <p:spPr>
          <a:xfrm>
            <a:off x="9930393" y="4586764"/>
            <a:ext cx="3749040" cy="685800"/>
          </a:xfrm>
          <a:prstGeom prst="rect">
            <a:avLst/>
          </a:prstGeom>
          <a:noFill/>
          <a:ln/>
        </p:spPr>
        <p:txBody>
          <a:bodyPr wrap="square" rtlCol="0" anchor="t"/>
          <a:lstStyle/>
          <a:p>
            <a:pPr marL="0" indent="0" algn="ctr">
              <a:lnSpc>
                <a:spcPts val="2700"/>
              </a:lnSpc>
              <a:buNone/>
            </a:pPr>
            <a:r>
              <a:rPr lang="en-US" sz="2160" dirty="0">
                <a:solidFill>
                  <a:srgbClr val="DAD8E9"/>
                </a:solidFill>
                <a:latin typeface="Times New Roman" panose="02020603050405020304" pitchFamily="18" charset="0"/>
                <a:ea typeface="Prompt" pitchFamily="34" charset="-122"/>
                <a:cs typeface="Times New Roman" panose="02020603050405020304" pitchFamily="18" charset="0"/>
              </a:rPr>
              <a:t>Quản Lý Thông Tin Khách Hàng</a:t>
            </a:r>
            <a:endParaRPr lang="en-US" sz="2160" dirty="0">
              <a:latin typeface="Times New Roman" panose="02020603050405020304" pitchFamily="18" charset="0"/>
              <a:cs typeface="Times New Roman" panose="02020603050405020304" pitchFamily="18" charset="0"/>
            </a:endParaRPr>
          </a:p>
        </p:txBody>
      </p:sp>
      <p:sp>
        <p:nvSpPr>
          <p:cNvPr id="13" name="Text 7"/>
          <p:cNvSpPr/>
          <p:nvPr/>
        </p:nvSpPr>
        <p:spPr>
          <a:xfrm>
            <a:off x="9930393" y="5420678"/>
            <a:ext cx="3749040" cy="1975247"/>
          </a:xfrm>
          <a:prstGeom prst="rect">
            <a:avLst/>
          </a:prstGeom>
          <a:noFill/>
          <a:ln/>
        </p:spPr>
        <p:txBody>
          <a:bodyPr wrap="square" rtlCol="0" anchor="t"/>
          <a:lstStyle/>
          <a:p>
            <a:pPr marL="0" indent="0" algn="just">
              <a:lnSpc>
                <a:spcPts val="3110"/>
              </a:lnSpc>
              <a:buNone/>
            </a:pPr>
            <a:r>
              <a:rPr lang="en-US" sz="1944" dirty="0">
                <a:solidFill>
                  <a:srgbClr val="DAD8E9"/>
                </a:solidFill>
                <a:latin typeface="Times New Roman" panose="02020603050405020304" pitchFamily="18" charset="0"/>
                <a:ea typeface="Mukta" pitchFamily="34" charset="-122"/>
                <a:cs typeface="Times New Roman" panose="02020603050405020304" pitchFamily="18" charset="0"/>
              </a:rPr>
              <a:t>Giao diện quản lý thông tin khách hàng cho phép thêm, sửa, xóa, và tìm kiếm thông tin khách hàng, cũng như chuyển sang chức năng thuê phòng.</a:t>
            </a:r>
            <a:endParaRPr lang="en-US" sz="1944" dirty="0">
              <a:latin typeface="Times New Roman" panose="02020603050405020304" pitchFamily="18" charset="0"/>
              <a:cs typeface="Times New Roman" panose="02020603050405020304" pitchFamily="18" charset="0"/>
            </a:endParaRPr>
          </a:p>
        </p:txBody>
      </p:sp>
      <p:pic>
        <p:nvPicPr>
          <p:cNvPr id="16" name="Picture 15" descr="A screenshot of a computer&#10;&#10;Description automatically generated">
            <a:extLst>
              <a:ext uri="{FF2B5EF4-FFF2-40B4-BE49-F238E27FC236}">
                <a16:creationId xmlns:a16="http://schemas.microsoft.com/office/drawing/2014/main" id="{2790ED97-813E-C160-8BE3-FD7DF134101D}"/>
              </a:ext>
            </a:extLst>
          </p:cNvPr>
          <p:cNvPicPr>
            <a:picLocks noChangeAspect="1"/>
          </p:cNvPicPr>
          <p:nvPr/>
        </p:nvPicPr>
        <p:blipFill>
          <a:blip r:embed="rId7"/>
          <a:stretch>
            <a:fillRect/>
          </a:stretch>
        </p:blipFill>
        <p:spPr>
          <a:xfrm>
            <a:off x="9825674" y="1641393"/>
            <a:ext cx="3958477" cy="2853931"/>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B0C23">
              <a:alpha val="75000"/>
            </a:srgbClr>
          </a:solidFill>
          <a:ln/>
        </p:spPr>
      </p:sp>
      <p:pic>
        <p:nvPicPr>
          <p:cNvPr id="4" name="Image 1" descr="preencoded.png"/>
          <p:cNvPicPr>
            <a:picLocks noChangeAspect="1"/>
          </p:cNvPicPr>
          <p:nvPr/>
        </p:nvPicPr>
        <p:blipFill>
          <a:blip r:embed="rId4"/>
          <a:stretch>
            <a:fillRect/>
          </a:stretch>
        </p:blipFill>
        <p:spPr>
          <a:xfrm>
            <a:off x="10972800" y="0"/>
            <a:ext cx="3657600" cy="8229600"/>
          </a:xfrm>
          <a:prstGeom prst="rect">
            <a:avLst/>
          </a:prstGeom>
        </p:spPr>
      </p:pic>
      <p:sp>
        <p:nvSpPr>
          <p:cNvPr id="5" name="Text 1"/>
          <p:cNvSpPr/>
          <p:nvPr/>
        </p:nvSpPr>
        <p:spPr>
          <a:xfrm>
            <a:off x="863203" y="679371"/>
            <a:ext cx="5920026" cy="685205"/>
          </a:xfrm>
          <a:prstGeom prst="rect">
            <a:avLst/>
          </a:prstGeom>
          <a:noFill/>
          <a:ln/>
        </p:spPr>
        <p:txBody>
          <a:bodyPr wrap="none" rtlCol="0" anchor="t"/>
          <a:lstStyle/>
          <a:p>
            <a:pPr marL="0" indent="0">
              <a:lnSpc>
                <a:spcPts val="5395"/>
              </a:lnSpc>
              <a:buNone/>
            </a:pPr>
            <a:r>
              <a:rPr lang="en-US" sz="4316" dirty="0">
                <a:solidFill>
                  <a:srgbClr val="C6BFEE"/>
                </a:solidFill>
                <a:latin typeface="Times New Roman" panose="02020603050405020304" pitchFamily="18" charset="0"/>
                <a:ea typeface="Prompt" pitchFamily="34" charset="-122"/>
                <a:cs typeface="Times New Roman" panose="02020603050405020304" pitchFamily="18" charset="0"/>
              </a:rPr>
              <a:t>Các Chức Năng Chính</a:t>
            </a:r>
            <a:endParaRPr lang="en-US" sz="4316" dirty="0">
              <a:latin typeface="Times New Roman" panose="02020603050405020304" pitchFamily="18" charset="0"/>
              <a:cs typeface="Times New Roman" panose="02020603050405020304" pitchFamily="18" charset="0"/>
            </a:endParaRPr>
          </a:p>
        </p:txBody>
      </p:sp>
      <p:pic>
        <p:nvPicPr>
          <p:cNvPr id="6" name="Image 2" descr="preencoded.png"/>
          <p:cNvPicPr>
            <a:picLocks noChangeAspect="1"/>
          </p:cNvPicPr>
          <p:nvPr/>
        </p:nvPicPr>
        <p:blipFill>
          <a:blip r:embed="rId5"/>
          <a:stretch>
            <a:fillRect/>
          </a:stretch>
        </p:blipFill>
        <p:spPr>
          <a:xfrm>
            <a:off x="863203" y="1734503"/>
            <a:ext cx="616625" cy="616625"/>
          </a:xfrm>
          <a:prstGeom prst="rect">
            <a:avLst/>
          </a:prstGeom>
        </p:spPr>
      </p:pic>
      <p:sp>
        <p:nvSpPr>
          <p:cNvPr id="7" name="Text 2"/>
          <p:cNvSpPr/>
          <p:nvPr/>
        </p:nvSpPr>
        <p:spPr>
          <a:xfrm>
            <a:off x="863203" y="2597706"/>
            <a:ext cx="2815233" cy="342543"/>
          </a:xfrm>
          <a:prstGeom prst="rect">
            <a:avLst/>
          </a:prstGeom>
          <a:noFill/>
          <a:ln/>
        </p:spPr>
        <p:txBody>
          <a:bodyPr wrap="none" rtlCol="0" anchor="t"/>
          <a:lstStyle/>
          <a:p>
            <a:pPr marL="0" indent="0" algn="l">
              <a:lnSpc>
                <a:spcPts val="2698"/>
              </a:lnSpc>
              <a:buNone/>
            </a:pPr>
            <a:r>
              <a:rPr lang="en-US" sz="2158" dirty="0">
                <a:solidFill>
                  <a:srgbClr val="DAD8E9"/>
                </a:solidFill>
                <a:latin typeface="Times New Roman" panose="02020603050405020304" pitchFamily="18" charset="0"/>
                <a:ea typeface="Prompt" pitchFamily="34" charset="-122"/>
                <a:cs typeface="Times New Roman" panose="02020603050405020304" pitchFamily="18" charset="0"/>
              </a:rPr>
              <a:t>Quản Lý Khách Hàng</a:t>
            </a:r>
            <a:endParaRPr lang="en-US" sz="2158" dirty="0">
              <a:latin typeface="Times New Roman" panose="02020603050405020304" pitchFamily="18" charset="0"/>
              <a:cs typeface="Times New Roman" panose="02020603050405020304" pitchFamily="18" charset="0"/>
            </a:endParaRPr>
          </a:p>
        </p:txBody>
      </p:sp>
      <p:sp>
        <p:nvSpPr>
          <p:cNvPr id="8" name="Text 3"/>
          <p:cNvSpPr/>
          <p:nvPr/>
        </p:nvSpPr>
        <p:spPr>
          <a:xfrm>
            <a:off x="863203" y="3088243"/>
            <a:ext cx="4438174" cy="1184077"/>
          </a:xfrm>
          <a:prstGeom prst="rect">
            <a:avLst/>
          </a:prstGeom>
          <a:noFill/>
          <a:ln/>
        </p:spPr>
        <p:txBody>
          <a:bodyPr wrap="square" rtlCol="0" anchor="t"/>
          <a:lstStyle/>
          <a:p>
            <a:pPr marL="0" indent="0" algn="l">
              <a:lnSpc>
                <a:spcPts val="3108"/>
              </a:lnSpc>
              <a:buNone/>
            </a:pPr>
            <a:r>
              <a:rPr lang="en-US" sz="1942" dirty="0">
                <a:solidFill>
                  <a:srgbClr val="DAD8E9"/>
                </a:solidFill>
                <a:latin typeface="Times New Roman" panose="02020603050405020304" pitchFamily="18" charset="0"/>
                <a:ea typeface="Mukta" pitchFamily="34" charset="-122"/>
                <a:cs typeface="Times New Roman" panose="02020603050405020304" pitchFamily="18" charset="0"/>
              </a:rPr>
              <a:t>Hệ thống cho phép quản lý thông tin khách hàng, bao gồm thêm, sửa, xóa, và tìm kiếm thông tin khách hàng.</a:t>
            </a:r>
            <a:endParaRPr lang="en-US" sz="1942" dirty="0">
              <a:latin typeface="Times New Roman" panose="02020603050405020304" pitchFamily="18" charset="0"/>
              <a:cs typeface="Times New Roman" panose="02020603050405020304" pitchFamily="18" charset="0"/>
            </a:endParaRPr>
          </a:p>
        </p:txBody>
      </p:sp>
      <p:pic>
        <p:nvPicPr>
          <p:cNvPr id="9" name="Image 3" descr="preencoded.png"/>
          <p:cNvPicPr>
            <a:picLocks noChangeAspect="1"/>
          </p:cNvPicPr>
          <p:nvPr/>
        </p:nvPicPr>
        <p:blipFill>
          <a:blip r:embed="rId6"/>
          <a:stretch>
            <a:fillRect/>
          </a:stretch>
        </p:blipFill>
        <p:spPr>
          <a:xfrm>
            <a:off x="5671304" y="1734503"/>
            <a:ext cx="616625" cy="616625"/>
          </a:xfrm>
          <a:prstGeom prst="rect">
            <a:avLst/>
          </a:prstGeom>
        </p:spPr>
      </p:pic>
      <p:sp>
        <p:nvSpPr>
          <p:cNvPr id="10" name="Text 4"/>
          <p:cNvSpPr/>
          <p:nvPr/>
        </p:nvSpPr>
        <p:spPr>
          <a:xfrm>
            <a:off x="5671304" y="2597706"/>
            <a:ext cx="2740581" cy="342543"/>
          </a:xfrm>
          <a:prstGeom prst="rect">
            <a:avLst/>
          </a:prstGeom>
          <a:noFill/>
          <a:ln/>
        </p:spPr>
        <p:txBody>
          <a:bodyPr wrap="none" rtlCol="0" anchor="t"/>
          <a:lstStyle/>
          <a:p>
            <a:pPr marL="0" indent="0" algn="l">
              <a:lnSpc>
                <a:spcPts val="2698"/>
              </a:lnSpc>
              <a:buNone/>
            </a:pPr>
            <a:r>
              <a:rPr lang="en-US" sz="2158" dirty="0">
                <a:solidFill>
                  <a:srgbClr val="DAD8E9"/>
                </a:solidFill>
                <a:latin typeface="Times New Roman" panose="02020603050405020304" pitchFamily="18" charset="0"/>
                <a:ea typeface="Prompt" pitchFamily="34" charset="-122"/>
                <a:cs typeface="Times New Roman" panose="02020603050405020304" pitchFamily="18" charset="0"/>
              </a:rPr>
              <a:t>Đặt Phòng</a:t>
            </a:r>
            <a:endParaRPr lang="en-US" sz="2158" dirty="0">
              <a:latin typeface="Times New Roman" panose="02020603050405020304" pitchFamily="18" charset="0"/>
              <a:cs typeface="Times New Roman" panose="02020603050405020304" pitchFamily="18" charset="0"/>
            </a:endParaRPr>
          </a:p>
        </p:txBody>
      </p:sp>
      <p:sp>
        <p:nvSpPr>
          <p:cNvPr id="11" name="Text 5"/>
          <p:cNvSpPr/>
          <p:nvPr/>
        </p:nvSpPr>
        <p:spPr>
          <a:xfrm>
            <a:off x="5671304" y="3088243"/>
            <a:ext cx="4438293" cy="1184077"/>
          </a:xfrm>
          <a:prstGeom prst="rect">
            <a:avLst/>
          </a:prstGeom>
          <a:noFill/>
          <a:ln/>
        </p:spPr>
        <p:txBody>
          <a:bodyPr wrap="square" rtlCol="0" anchor="t"/>
          <a:lstStyle/>
          <a:p>
            <a:pPr marL="0" indent="0" algn="l">
              <a:lnSpc>
                <a:spcPts val="3108"/>
              </a:lnSpc>
              <a:buNone/>
            </a:pPr>
            <a:r>
              <a:rPr lang="en-US" sz="1942" dirty="0">
                <a:solidFill>
                  <a:srgbClr val="DAD8E9"/>
                </a:solidFill>
                <a:latin typeface="Times New Roman" panose="02020603050405020304" pitchFamily="18" charset="0"/>
                <a:ea typeface="Mukta" pitchFamily="34" charset="-122"/>
                <a:cs typeface="Times New Roman" panose="02020603050405020304" pitchFamily="18" charset="0"/>
              </a:rPr>
              <a:t>Khách hàng có thể đặt phòng trực tuyến, với các thông tin như ngày đến, ngày đi, và thông tin liên hệ.</a:t>
            </a:r>
            <a:endParaRPr lang="en-US" sz="1942" dirty="0">
              <a:latin typeface="Times New Roman" panose="02020603050405020304" pitchFamily="18" charset="0"/>
              <a:cs typeface="Times New Roman" panose="02020603050405020304" pitchFamily="18" charset="0"/>
            </a:endParaRPr>
          </a:p>
        </p:txBody>
      </p:sp>
      <p:pic>
        <p:nvPicPr>
          <p:cNvPr id="12" name="Image 4" descr="preencoded.png"/>
          <p:cNvPicPr>
            <a:picLocks noChangeAspect="1"/>
          </p:cNvPicPr>
          <p:nvPr/>
        </p:nvPicPr>
        <p:blipFill>
          <a:blip r:embed="rId7"/>
          <a:stretch>
            <a:fillRect/>
          </a:stretch>
        </p:blipFill>
        <p:spPr>
          <a:xfrm>
            <a:off x="863203" y="5012293"/>
            <a:ext cx="616625" cy="616625"/>
          </a:xfrm>
          <a:prstGeom prst="rect">
            <a:avLst/>
          </a:prstGeom>
        </p:spPr>
      </p:pic>
      <p:sp>
        <p:nvSpPr>
          <p:cNvPr id="13" name="Text 6"/>
          <p:cNvSpPr/>
          <p:nvPr/>
        </p:nvSpPr>
        <p:spPr>
          <a:xfrm>
            <a:off x="863203" y="5875496"/>
            <a:ext cx="2740581" cy="342543"/>
          </a:xfrm>
          <a:prstGeom prst="rect">
            <a:avLst/>
          </a:prstGeom>
          <a:noFill/>
          <a:ln/>
        </p:spPr>
        <p:txBody>
          <a:bodyPr wrap="none" rtlCol="0" anchor="t"/>
          <a:lstStyle/>
          <a:p>
            <a:pPr marL="0" indent="0" algn="l">
              <a:lnSpc>
                <a:spcPts val="2698"/>
              </a:lnSpc>
              <a:buNone/>
            </a:pPr>
            <a:r>
              <a:rPr lang="en-US" sz="2158" dirty="0">
                <a:solidFill>
                  <a:srgbClr val="DAD8E9"/>
                </a:solidFill>
                <a:latin typeface="Times New Roman" panose="02020603050405020304" pitchFamily="18" charset="0"/>
                <a:ea typeface="Prompt" pitchFamily="34" charset="-122"/>
                <a:cs typeface="Times New Roman" panose="02020603050405020304" pitchFamily="18" charset="0"/>
              </a:rPr>
              <a:t>Thuê Phòng</a:t>
            </a:r>
            <a:endParaRPr lang="en-US" sz="2158" dirty="0">
              <a:latin typeface="Times New Roman" panose="02020603050405020304" pitchFamily="18" charset="0"/>
              <a:cs typeface="Times New Roman" panose="02020603050405020304" pitchFamily="18" charset="0"/>
            </a:endParaRPr>
          </a:p>
        </p:txBody>
      </p:sp>
      <p:sp>
        <p:nvSpPr>
          <p:cNvPr id="14" name="Text 7"/>
          <p:cNvSpPr/>
          <p:nvPr/>
        </p:nvSpPr>
        <p:spPr>
          <a:xfrm>
            <a:off x="863203" y="6366034"/>
            <a:ext cx="4438174" cy="1184077"/>
          </a:xfrm>
          <a:prstGeom prst="rect">
            <a:avLst/>
          </a:prstGeom>
          <a:noFill/>
          <a:ln/>
        </p:spPr>
        <p:txBody>
          <a:bodyPr wrap="square" rtlCol="0" anchor="t"/>
          <a:lstStyle/>
          <a:p>
            <a:pPr marL="0" indent="0" algn="l">
              <a:lnSpc>
                <a:spcPts val="3108"/>
              </a:lnSpc>
              <a:buNone/>
            </a:pPr>
            <a:r>
              <a:rPr lang="en-US" sz="1942" dirty="0">
                <a:solidFill>
                  <a:srgbClr val="DAD8E9"/>
                </a:solidFill>
                <a:latin typeface="Times New Roman" panose="02020603050405020304" pitchFamily="18" charset="0"/>
                <a:ea typeface="Mukta" pitchFamily="34" charset="-122"/>
                <a:cs typeface="Times New Roman" panose="02020603050405020304" pitchFamily="18" charset="0"/>
              </a:rPr>
              <a:t>Nhân viên lễ tân có thể thực hiện việc thuê phòng cho khách hàng, bao gồm cập nhật trạng thái phòng và thông tin khách hàng.</a:t>
            </a:r>
            <a:endParaRPr lang="en-US" sz="1942" dirty="0">
              <a:latin typeface="Times New Roman" panose="02020603050405020304" pitchFamily="18" charset="0"/>
              <a:cs typeface="Times New Roman" panose="02020603050405020304" pitchFamily="18" charset="0"/>
            </a:endParaRPr>
          </a:p>
        </p:txBody>
      </p:sp>
      <p:pic>
        <p:nvPicPr>
          <p:cNvPr id="15" name="Image 5" descr="preencoded.png"/>
          <p:cNvPicPr>
            <a:picLocks noChangeAspect="1"/>
          </p:cNvPicPr>
          <p:nvPr/>
        </p:nvPicPr>
        <p:blipFill>
          <a:blip r:embed="rId8"/>
          <a:stretch>
            <a:fillRect/>
          </a:stretch>
        </p:blipFill>
        <p:spPr>
          <a:xfrm>
            <a:off x="5671304" y="5012293"/>
            <a:ext cx="616625" cy="616625"/>
          </a:xfrm>
          <a:prstGeom prst="rect">
            <a:avLst/>
          </a:prstGeom>
        </p:spPr>
      </p:pic>
      <p:sp>
        <p:nvSpPr>
          <p:cNvPr id="16" name="Text 8"/>
          <p:cNvSpPr/>
          <p:nvPr/>
        </p:nvSpPr>
        <p:spPr>
          <a:xfrm>
            <a:off x="5671304" y="5875496"/>
            <a:ext cx="2740581" cy="342543"/>
          </a:xfrm>
          <a:prstGeom prst="rect">
            <a:avLst/>
          </a:prstGeom>
          <a:noFill/>
          <a:ln/>
        </p:spPr>
        <p:txBody>
          <a:bodyPr wrap="none" rtlCol="0" anchor="t"/>
          <a:lstStyle/>
          <a:p>
            <a:pPr marL="0" indent="0" algn="l">
              <a:lnSpc>
                <a:spcPts val="2698"/>
              </a:lnSpc>
              <a:buNone/>
            </a:pPr>
            <a:r>
              <a:rPr lang="en-US" sz="2158" dirty="0">
                <a:solidFill>
                  <a:srgbClr val="DAD8E9"/>
                </a:solidFill>
                <a:latin typeface="Times New Roman" panose="02020603050405020304" pitchFamily="18" charset="0"/>
                <a:ea typeface="Prompt" pitchFamily="34" charset="-122"/>
                <a:cs typeface="Times New Roman" panose="02020603050405020304" pitchFamily="18" charset="0"/>
              </a:rPr>
              <a:t>Thanh Toán</a:t>
            </a:r>
            <a:endParaRPr lang="en-US" sz="2158" dirty="0">
              <a:latin typeface="Times New Roman" panose="02020603050405020304" pitchFamily="18" charset="0"/>
              <a:cs typeface="Times New Roman" panose="02020603050405020304" pitchFamily="18" charset="0"/>
            </a:endParaRPr>
          </a:p>
        </p:txBody>
      </p:sp>
      <p:sp>
        <p:nvSpPr>
          <p:cNvPr id="17" name="Text 9"/>
          <p:cNvSpPr/>
          <p:nvPr/>
        </p:nvSpPr>
        <p:spPr>
          <a:xfrm>
            <a:off x="5671304" y="6366034"/>
            <a:ext cx="4438293" cy="1184077"/>
          </a:xfrm>
          <a:prstGeom prst="rect">
            <a:avLst/>
          </a:prstGeom>
          <a:noFill/>
          <a:ln/>
        </p:spPr>
        <p:txBody>
          <a:bodyPr wrap="square" rtlCol="0" anchor="t"/>
          <a:lstStyle/>
          <a:p>
            <a:pPr marL="0" indent="0" algn="l">
              <a:lnSpc>
                <a:spcPts val="3108"/>
              </a:lnSpc>
              <a:buNone/>
            </a:pPr>
            <a:r>
              <a:rPr lang="en-US" sz="1942" dirty="0">
                <a:solidFill>
                  <a:srgbClr val="DAD8E9"/>
                </a:solidFill>
                <a:latin typeface="Times New Roman" panose="02020603050405020304" pitchFamily="18" charset="0"/>
                <a:ea typeface="Mukta" pitchFamily="34" charset="-122"/>
                <a:cs typeface="Times New Roman" panose="02020603050405020304" pitchFamily="18" charset="0"/>
              </a:rPr>
              <a:t>Khách hàng có thể thanh toán tiền phòng và các dịch vụ khác, hệ thống sẽ tự động tính toán tổng số tiền và in hóa đơn.</a:t>
            </a:r>
            <a:endParaRPr lang="en-US" sz="1942" dirty="0">
              <a:latin typeface="Times New Roman" panose="02020603050405020304" pitchFamily="18" charset="0"/>
              <a:cs typeface="Times New Roman" panose="02020603050405020304" pitchFamily="18" charset="0"/>
            </a:endParaRPr>
          </a:p>
        </p:txBody>
      </p:sp>
      <p:sp>
        <p:nvSpPr>
          <p:cNvPr id="19" name="Freeform 4">
            <a:extLst>
              <a:ext uri="{FF2B5EF4-FFF2-40B4-BE49-F238E27FC236}">
                <a16:creationId xmlns:a16="http://schemas.microsoft.com/office/drawing/2014/main" id="{91CED65F-FA7D-8D89-A6EE-764FC43C2528}"/>
              </a:ext>
            </a:extLst>
          </p:cNvPr>
          <p:cNvSpPr/>
          <p:nvPr/>
        </p:nvSpPr>
        <p:spPr>
          <a:xfrm>
            <a:off x="11047452" y="-1820552"/>
            <a:ext cx="8893252" cy="12141650"/>
          </a:xfrm>
          <a:custGeom>
            <a:avLst/>
            <a:gdLst/>
            <a:ahLst/>
            <a:cxnLst/>
            <a:rect l="l" t="t" r="r" b="b"/>
            <a:pathLst>
              <a:path w="8893252" h="8315191">
                <a:moveTo>
                  <a:pt x="0" y="0"/>
                </a:moveTo>
                <a:lnTo>
                  <a:pt x="8893252" y="0"/>
                </a:lnTo>
                <a:lnTo>
                  <a:pt x="8893252" y="8315190"/>
                </a:lnTo>
                <a:lnTo>
                  <a:pt x="0" y="8315190"/>
                </a:lnTo>
                <a:lnTo>
                  <a:pt x="0" y="0"/>
                </a:lnTo>
                <a:close/>
              </a:path>
            </a:pathLst>
          </a:custGeom>
          <a:blipFill>
            <a:blip r:embed="rId9"/>
            <a:stretch>
              <a:fillRect/>
            </a:stretch>
          </a:blipFill>
        </p:spPr>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30672"/>
          </a:xfrm>
          <a:prstGeom prst="rect">
            <a:avLst/>
          </a:prstGeom>
          <a:solidFill>
            <a:srgbClr val="0B0C23">
              <a:alpha val="75000"/>
            </a:srgbClr>
          </a:solidFill>
          <a:ln/>
        </p:spPr>
      </p:sp>
      <p:sp>
        <p:nvSpPr>
          <p:cNvPr id="5" name="Text 1"/>
          <p:cNvSpPr/>
          <p:nvPr/>
        </p:nvSpPr>
        <p:spPr>
          <a:xfrm>
            <a:off x="1717119" y="608608"/>
            <a:ext cx="4921329" cy="615077"/>
          </a:xfrm>
          <a:prstGeom prst="rect">
            <a:avLst/>
          </a:prstGeom>
          <a:noFill/>
          <a:ln/>
        </p:spPr>
        <p:txBody>
          <a:bodyPr wrap="none" rtlCol="0" anchor="t"/>
          <a:lstStyle/>
          <a:p>
            <a:pPr marL="0" indent="0">
              <a:lnSpc>
                <a:spcPts val="4844"/>
              </a:lnSpc>
              <a:buNone/>
            </a:pPr>
            <a:r>
              <a:rPr lang="en-US" sz="3875" dirty="0">
                <a:solidFill>
                  <a:srgbClr val="C6BFEE"/>
                </a:solidFill>
                <a:latin typeface="Times New Roman" panose="02020603050405020304" pitchFamily="18" charset="0"/>
                <a:ea typeface="Prompt" pitchFamily="34" charset="-122"/>
                <a:cs typeface="Times New Roman" panose="02020603050405020304" pitchFamily="18" charset="0"/>
              </a:rPr>
              <a:t>Quản Lý Nội Bộ</a:t>
            </a:r>
            <a:endParaRPr lang="en-US" sz="3875" dirty="0">
              <a:latin typeface="Times New Roman" panose="02020603050405020304" pitchFamily="18" charset="0"/>
              <a:cs typeface="Times New Roman" panose="02020603050405020304" pitchFamily="18" charset="0"/>
            </a:endParaRPr>
          </a:p>
        </p:txBody>
      </p:sp>
      <p:pic>
        <p:nvPicPr>
          <p:cNvPr id="6" name="Image 2" descr="preencoded.png"/>
          <p:cNvPicPr>
            <a:picLocks noChangeAspect="1"/>
          </p:cNvPicPr>
          <p:nvPr/>
        </p:nvPicPr>
        <p:blipFill>
          <a:blip r:embed="rId4"/>
          <a:stretch>
            <a:fillRect/>
          </a:stretch>
        </p:blipFill>
        <p:spPr>
          <a:xfrm>
            <a:off x="1717119" y="1555869"/>
            <a:ext cx="3584377" cy="885825"/>
          </a:xfrm>
          <a:prstGeom prst="rect">
            <a:avLst/>
          </a:prstGeom>
        </p:spPr>
      </p:pic>
      <p:sp>
        <p:nvSpPr>
          <p:cNvPr id="7" name="Text 2"/>
          <p:cNvSpPr/>
          <p:nvPr/>
        </p:nvSpPr>
        <p:spPr>
          <a:xfrm>
            <a:off x="1938575" y="2773878"/>
            <a:ext cx="2460665" cy="307538"/>
          </a:xfrm>
          <a:prstGeom prst="rect">
            <a:avLst/>
          </a:prstGeom>
          <a:noFill/>
          <a:ln/>
        </p:spPr>
        <p:txBody>
          <a:bodyPr wrap="none" rtlCol="0" anchor="t"/>
          <a:lstStyle/>
          <a:p>
            <a:pPr marL="0" indent="0" algn="l">
              <a:lnSpc>
                <a:spcPts val="2422"/>
              </a:lnSpc>
              <a:buNone/>
            </a:pPr>
            <a:r>
              <a:rPr lang="en-US" sz="1938" dirty="0">
                <a:solidFill>
                  <a:srgbClr val="DAD8E9"/>
                </a:solidFill>
                <a:latin typeface="Times New Roman" panose="02020603050405020304" pitchFamily="18" charset="0"/>
                <a:ea typeface="Prompt" pitchFamily="34" charset="-122"/>
                <a:cs typeface="Times New Roman" panose="02020603050405020304" pitchFamily="18" charset="0"/>
              </a:rPr>
              <a:t>Quản Lý Phòng</a:t>
            </a:r>
            <a:endParaRPr lang="en-US" sz="1938" dirty="0">
              <a:latin typeface="Times New Roman" panose="02020603050405020304" pitchFamily="18" charset="0"/>
              <a:cs typeface="Times New Roman" panose="02020603050405020304" pitchFamily="18" charset="0"/>
            </a:endParaRPr>
          </a:p>
        </p:txBody>
      </p:sp>
      <p:sp>
        <p:nvSpPr>
          <p:cNvPr id="8" name="Text 3"/>
          <p:cNvSpPr/>
          <p:nvPr/>
        </p:nvSpPr>
        <p:spPr>
          <a:xfrm>
            <a:off x="1938575" y="3214291"/>
            <a:ext cx="3141464" cy="1417320"/>
          </a:xfrm>
          <a:prstGeom prst="rect">
            <a:avLst/>
          </a:prstGeom>
          <a:noFill/>
          <a:ln/>
        </p:spPr>
        <p:txBody>
          <a:bodyPr wrap="square" rtlCol="0" anchor="t"/>
          <a:lstStyle/>
          <a:p>
            <a:pPr marL="0" indent="0" algn="just">
              <a:lnSpc>
                <a:spcPts val="2790"/>
              </a:lnSpc>
              <a:buNone/>
            </a:pPr>
            <a:r>
              <a:rPr lang="en-US" sz="1744" dirty="0">
                <a:solidFill>
                  <a:srgbClr val="DAD8E9"/>
                </a:solidFill>
                <a:latin typeface="Times New Roman" panose="02020603050405020304" pitchFamily="18" charset="0"/>
                <a:ea typeface="Mukta" pitchFamily="34" charset="-122"/>
                <a:cs typeface="Times New Roman" panose="02020603050405020304" pitchFamily="18" charset="0"/>
              </a:rPr>
              <a:t>Nhân viên quản lý có thể xem và chỉnh sửa thông tin các phòng khách sạn, bao gồm loại phòng, giá cả, và trạng thái.</a:t>
            </a:r>
            <a:endParaRPr lang="en-US" sz="1744" dirty="0">
              <a:latin typeface="Times New Roman" panose="02020603050405020304" pitchFamily="18" charset="0"/>
              <a:cs typeface="Times New Roman" panose="02020603050405020304" pitchFamily="18" charset="0"/>
            </a:endParaRPr>
          </a:p>
        </p:txBody>
      </p:sp>
      <p:pic>
        <p:nvPicPr>
          <p:cNvPr id="9" name="Image 3" descr="preencoded.png"/>
          <p:cNvPicPr>
            <a:picLocks noChangeAspect="1"/>
          </p:cNvPicPr>
          <p:nvPr/>
        </p:nvPicPr>
        <p:blipFill>
          <a:blip r:embed="rId5"/>
          <a:stretch>
            <a:fillRect/>
          </a:stretch>
        </p:blipFill>
        <p:spPr>
          <a:xfrm>
            <a:off x="5301495" y="1555869"/>
            <a:ext cx="3584377" cy="885825"/>
          </a:xfrm>
          <a:prstGeom prst="rect">
            <a:avLst/>
          </a:prstGeom>
        </p:spPr>
      </p:pic>
      <p:sp>
        <p:nvSpPr>
          <p:cNvPr id="10" name="Text 4"/>
          <p:cNvSpPr/>
          <p:nvPr/>
        </p:nvSpPr>
        <p:spPr>
          <a:xfrm>
            <a:off x="5522951" y="2773878"/>
            <a:ext cx="2460665" cy="307538"/>
          </a:xfrm>
          <a:prstGeom prst="rect">
            <a:avLst/>
          </a:prstGeom>
          <a:noFill/>
          <a:ln/>
        </p:spPr>
        <p:txBody>
          <a:bodyPr wrap="none" rtlCol="0" anchor="t"/>
          <a:lstStyle/>
          <a:p>
            <a:pPr marL="0" indent="0" algn="l">
              <a:lnSpc>
                <a:spcPts val="2422"/>
              </a:lnSpc>
              <a:buNone/>
            </a:pPr>
            <a:r>
              <a:rPr lang="en-US" sz="1938" dirty="0">
                <a:solidFill>
                  <a:srgbClr val="DAD8E9"/>
                </a:solidFill>
                <a:latin typeface="Times New Roman" panose="02020603050405020304" pitchFamily="18" charset="0"/>
                <a:ea typeface="Prompt" pitchFamily="34" charset="-122"/>
                <a:cs typeface="Times New Roman" panose="02020603050405020304" pitchFamily="18" charset="0"/>
              </a:rPr>
              <a:t>Quản Lý Dịch Vụ</a:t>
            </a:r>
            <a:endParaRPr lang="en-US" sz="1938" dirty="0">
              <a:latin typeface="Times New Roman" panose="02020603050405020304" pitchFamily="18" charset="0"/>
              <a:cs typeface="Times New Roman" panose="02020603050405020304" pitchFamily="18" charset="0"/>
            </a:endParaRPr>
          </a:p>
        </p:txBody>
      </p:sp>
      <p:sp>
        <p:nvSpPr>
          <p:cNvPr id="11" name="Text 5"/>
          <p:cNvSpPr/>
          <p:nvPr/>
        </p:nvSpPr>
        <p:spPr>
          <a:xfrm>
            <a:off x="5522951" y="3214291"/>
            <a:ext cx="3141464" cy="1417320"/>
          </a:xfrm>
          <a:prstGeom prst="rect">
            <a:avLst/>
          </a:prstGeom>
          <a:noFill/>
          <a:ln/>
        </p:spPr>
        <p:txBody>
          <a:bodyPr wrap="square" rtlCol="0" anchor="t"/>
          <a:lstStyle/>
          <a:p>
            <a:pPr marL="0" indent="0" algn="just">
              <a:lnSpc>
                <a:spcPts val="2790"/>
              </a:lnSpc>
              <a:buNone/>
            </a:pPr>
            <a:r>
              <a:rPr lang="en-US" sz="1744" dirty="0">
                <a:solidFill>
                  <a:srgbClr val="DAD8E9"/>
                </a:solidFill>
                <a:latin typeface="Times New Roman" panose="02020603050405020304" pitchFamily="18" charset="0"/>
                <a:ea typeface="Mukta" pitchFamily="34" charset="-122"/>
                <a:cs typeface="Times New Roman" panose="02020603050405020304" pitchFamily="18" charset="0"/>
              </a:rPr>
              <a:t>Nhân viên quản lý có thể thêm, sửa, và xóa các dịch vụ khách sạn cung cấp, cũng như quản lý chi phí của các dịch vụ này.</a:t>
            </a:r>
            <a:endParaRPr lang="en-US" sz="1744" dirty="0">
              <a:latin typeface="Times New Roman" panose="02020603050405020304" pitchFamily="18" charset="0"/>
              <a:cs typeface="Times New Roman" panose="02020603050405020304" pitchFamily="18" charset="0"/>
            </a:endParaRPr>
          </a:p>
        </p:txBody>
      </p:sp>
      <p:pic>
        <p:nvPicPr>
          <p:cNvPr id="12" name="Image 4" descr="preencoded.png"/>
          <p:cNvPicPr>
            <a:picLocks noChangeAspect="1"/>
          </p:cNvPicPr>
          <p:nvPr/>
        </p:nvPicPr>
        <p:blipFill>
          <a:blip r:embed="rId6"/>
          <a:stretch>
            <a:fillRect/>
          </a:stretch>
        </p:blipFill>
        <p:spPr>
          <a:xfrm>
            <a:off x="8885872" y="1555869"/>
            <a:ext cx="3584377" cy="885825"/>
          </a:xfrm>
          <a:prstGeom prst="rect">
            <a:avLst/>
          </a:prstGeom>
        </p:spPr>
      </p:pic>
      <p:sp>
        <p:nvSpPr>
          <p:cNvPr id="13" name="Text 6"/>
          <p:cNvSpPr/>
          <p:nvPr/>
        </p:nvSpPr>
        <p:spPr>
          <a:xfrm>
            <a:off x="9107328" y="2773878"/>
            <a:ext cx="2460665" cy="307538"/>
          </a:xfrm>
          <a:prstGeom prst="rect">
            <a:avLst/>
          </a:prstGeom>
          <a:noFill/>
          <a:ln/>
        </p:spPr>
        <p:txBody>
          <a:bodyPr wrap="none" rtlCol="0" anchor="t"/>
          <a:lstStyle/>
          <a:p>
            <a:pPr marL="0" indent="0" algn="l">
              <a:lnSpc>
                <a:spcPts val="2422"/>
              </a:lnSpc>
              <a:buNone/>
            </a:pPr>
            <a:r>
              <a:rPr lang="en-US" sz="1938" dirty="0">
                <a:solidFill>
                  <a:srgbClr val="DAD8E9"/>
                </a:solidFill>
                <a:latin typeface="Times New Roman" panose="02020603050405020304" pitchFamily="18" charset="0"/>
                <a:ea typeface="Prompt" pitchFamily="34" charset="-122"/>
                <a:cs typeface="Times New Roman" panose="02020603050405020304" pitchFamily="18" charset="0"/>
              </a:rPr>
              <a:t>Quản Lý Nhân Viên</a:t>
            </a:r>
            <a:endParaRPr lang="en-US" sz="1938" dirty="0">
              <a:latin typeface="Times New Roman" panose="02020603050405020304" pitchFamily="18" charset="0"/>
              <a:cs typeface="Times New Roman" panose="02020603050405020304" pitchFamily="18" charset="0"/>
            </a:endParaRPr>
          </a:p>
        </p:txBody>
      </p:sp>
      <p:sp>
        <p:nvSpPr>
          <p:cNvPr id="14" name="Text 7"/>
          <p:cNvSpPr/>
          <p:nvPr/>
        </p:nvSpPr>
        <p:spPr>
          <a:xfrm>
            <a:off x="9107328" y="3214291"/>
            <a:ext cx="3141464" cy="1417320"/>
          </a:xfrm>
          <a:prstGeom prst="rect">
            <a:avLst/>
          </a:prstGeom>
          <a:noFill/>
          <a:ln/>
        </p:spPr>
        <p:txBody>
          <a:bodyPr wrap="square" rtlCol="0" anchor="t"/>
          <a:lstStyle/>
          <a:p>
            <a:pPr marL="0" indent="0" algn="just">
              <a:lnSpc>
                <a:spcPts val="2790"/>
              </a:lnSpc>
              <a:buNone/>
            </a:pPr>
            <a:r>
              <a:rPr lang="en-US" sz="1744" dirty="0">
                <a:solidFill>
                  <a:srgbClr val="DAD8E9"/>
                </a:solidFill>
                <a:latin typeface="Times New Roman" panose="02020603050405020304" pitchFamily="18" charset="0"/>
                <a:ea typeface="Mukta" pitchFamily="34" charset="-122"/>
                <a:cs typeface="Times New Roman" panose="02020603050405020304" pitchFamily="18" charset="0"/>
              </a:rPr>
              <a:t>Quản trị viên có thể quản lý thông tin nhân viên, bao gồm thêm, sửa, xóa nhân viên, và phân quyền truy cập cho từng vai trò.</a:t>
            </a:r>
            <a:endParaRPr lang="en-US" sz="1744" dirty="0">
              <a:latin typeface="Times New Roman" panose="02020603050405020304" pitchFamily="18" charset="0"/>
              <a:cs typeface="Times New Roman" panose="02020603050405020304" pitchFamily="18" charset="0"/>
            </a:endParaRPr>
          </a:p>
        </p:txBody>
      </p:sp>
      <p:sp>
        <p:nvSpPr>
          <p:cNvPr id="17" name="Freeform 6">
            <a:extLst>
              <a:ext uri="{FF2B5EF4-FFF2-40B4-BE49-F238E27FC236}">
                <a16:creationId xmlns:a16="http://schemas.microsoft.com/office/drawing/2014/main" id="{4D75F502-0BF9-3A49-2A75-CB24291C6874}"/>
              </a:ext>
            </a:extLst>
          </p:cNvPr>
          <p:cNvSpPr/>
          <p:nvPr/>
        </p:nvSpPr>
        <p:spPr>
          <a:xfrm rot="3126416">
            <a:off x="-1181137" y="5561672"/>
            <a:ext cx="5153321" cy="3040459"/>
          </a:xfrm>
          <a:custGeom>
            <a:avLst/>
            <a:gdLst/>
            <a:ahLst/>
            <a:cxnLst/>
            <a:rect l="l" t="t" r="r" b="b"/>
            <a:pathLst>
              <a:path w="5153321" h="3040459">
                <a:moveTo>
                  <a:pt x="0" y="0"/>
                </a:moveTo>
                <a:lnTo>
                  <a:pt x="5153321" y="0"/>
                </a:lnTo>
                <a:lnTo>
                  <a:pt x="5153321" y="3040460"/>
                </a:lnTo>
                <a:lnTo>
                  <a:pt x="0" y="3040460"/>
                </a:lnTo>
                <a:lnTo>
                  <a:pt x="0" y="0"/>
                </a:lnTo>
                <a:close/>
              </a:path>
            </a:pathLst>
          </a:custGeom>
          <a:blipFill>
            <a:blip r:embed="rId7"/>
            <a:stretch>
              <a:fillRect/>
            </a:stretch>
          </a:blipFill>
        </p:spPr>
      </p:sp>
      <p:sp>
        <p:nvSpPr>
          <p:cNvPr id="18" name="Freeform 7">
            <a:extLst>
              <a:ext uri="{FF2B5EF4-FFF2-40B4-BE49-F238E27FC236}">
                <a16:creationId xmlns:a16="http://schemas.microsoft.com/office/drawing/2014/main" id="{369CC6BC-6A13-D284-3C74-763705B33E31}"/>
              </a:ext>
            </a:extLst>
          </p:cNvPr>
          <p:cNvSpPr/>
          <p:nvPr/>
        </p:nvSpPr>
        <p:spPr>
          <a:xfrm>
            <a:off x="12150857" y="2927647"/>
            <a:ext cx="6888896" cy="7185289"/>
          </a:xfrm>
          <a:custGeom>
            <a:avLst/>
            <a:gdLst/>
            <a:ahLst/>
            <a:cxnLst/>
            <a:rect l="l" t="t" r="r" b="b"/>
            <a:pathLst>
              <a:path w="6888896" h="7185289">
                <a:moveTo>
                  <a:pt x="0" y="0"/>
                </a:moveTo>
                <a:lnTo>
                  <a:pt x="6888897" y="0"/>
                </a:lnTo>
                <a:lnTo>
                  <a:pt x="6888897" y="7185290"/>
                </a:lnTo>
                <a:lnTo>
                  <a:pt x="0" y="7185290"/>
                </a:lnTo>
                <a:lnTo>
                  <a:pt x="0" y="0"/>
                </a:lnTo>
                <a:close/>
              </a:path>
            </a:pathLst>
          </a:custGeom>
          <a:blipFill>
            <a:blip r:embed="rId8"/>
            <a:stretch>
              <a:fillRect/>
            </a:stretch>
          </a:blipFill>
        </p:spPr>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Image 0" descr="preencoded.png">
            <a:extLst>
              <a:ext uri="{FF2B5EF4-FFF2-40B4-BE49-F238E27FC236}">
                <a16:creationId xmlns:a16="http://schemas.microsoft.com/office/drawing/2014/main" id="{CCB925E6-90A6-AC03-CB88-67C3C0645F70}"/>
              </a:ext>
            </a:extLst>
          </p:cNvPr>
          <p:cNvPicPr>
            <a:picLocks noChangeAspect="1"/>
          </p:cNvPicPr>
          <p:nvPr/>
        </p:nvPicPr>
        <p:blipFill>
          <a:blip r:embed="rId2"/>
          <a:stretch>
            <a:fillRect/>
          </a:stretch>
        </p:blipFill>
        <p:spPr>
          <a:xfrm>
            <a:off x="0" y="0"/>
            <a:ext cx="14630400" cy="8229600"/>
          </a:xfrm>
          <a:prstGeom prst="rect">
            <a:avLst/>
          </a:prstGeom>
        </p:spPr>
      </p:pic>
      <p:sp>
        <p:nvSpPr>
          <p:cNvPr id="13" name="Shape 0">
            <a:extLst>
              <a:ext uri="{FF2B5EF4-FFF2-40B4-BE49-F238E27FC236}">
                <a16:creationId xmlns:a16="http://schemas.microsoft.com/office/drawing/2014/main" id="{5442F095-F2E0-BD8A-F276-992CB0CA62CF}"/>
              </a:ext>
            </a:extLst>
          </p:cNvPr>
          <p:cNvSpPr/>
          <p:nvPr/>
        </p:nvSpPr>
        <p:spPr>
          <a:xfrm>
            <a:off x="-39901" y="-55478"/>
            <a:ext cx="14630400" cy="8230672"/>
          </a:xfrm>
          <a:prstGeom prst="rect">
            <a:avLst/>
          </a:prstGeom>
          <a:solidFill>
            <a:srgbClr val="0B0C23">
              <a:alpha val="75000"/>
            </a:srgbClr>
          </a:solidFill>
          <a:ln/>
        </p:spPr>
      </p:sp>
      <p:sp>
        <p:nvSpPr>
          <p:cNvPr id="3" name="Freeform 3">
            <a:extLst>
              <a:ext uri="{FF2B5EF4-FFF2-40B4-BE49-F238E27FC236}">
                <a16:creationId xmlns:a16="http://schemas.microsoft.com/office/drawing/2014/main" id="{AF66DB12-5B76-9A6D-7A75-2F7298F2DD90}"/>
              </a:ext>
            </a:extLst>
          </p:cNvPr>
          <p:cNvSpPr/>
          <p:nvPr/>
        </p:nvSpPr>
        <p:spPr>
          <a:xfrm>
            <a:off x="-2835802" y="1822598"/>
            <a:ext cx="6866457" cy="6875051"/>
          </a:xfrm>
          <a:custGeom>
            <a:avLst/>
            <a:gdLst/>
            <a:ahLst/>
            <a:cxnLst/>
            <a:rect l="l" t="t" r="r" b="b"/>
            <a:pathLst>
              <a:path w="6866457" h="6875051">
                <a:moveTo>
                  <a:pt x="0" y="0"/>
                </a:moveTo>
                <a:lnTo>
                  <a:pt x="6866457" y="0"/>
                </a:lnTo>
                <a:lnTo>
                  <a:pt x="6866457" y="6875051"/>
                </a:lnTo>
                <a:lnTo>
                  <a:pt x="0" y="6875051"/>
                </a:lnTo>
                <a:lnTo>
                  <a:pt x="0" y="0"/>
                </a:lnTo>
                <a:close/>
              </a:path>
            </a:pathLst>
          </a:custGeom>
          <a:blipFill>
            <a:blip r:embed="rId3"/>
            <a:stretch>
              <a:fillRect/>
            </a:stretch>
          </a:blipFill>
        </p:spPr>
        <p:txBody>
          <a:bodyPr/>
          <a:lstStyle/>
          <a:p>
            <a:endParaRPr lang="en-US">
              <a:latin typeface="Times New Roman" panose="02020603050405020304" pitchFamily="18" charset="0"/>
              <a:cs typeface="Times New Roman" panose="02020603050405020304" pitchFamily="18" charset="0"/>
            </a:endParaRPr>
          </a:p>
        </p:txBody>
      </p:sp>
      <p:sp>
        <p:nvSpPr>
          <p:cNvPr id="4" name="Freeform 4">
            <a:extLst>
              <a:ext uri="{FF2B5EF4-FFF2-40B4-BE49-F238E27FC236}">
                <a16:creationId xmlns:a16="http://schemas.microsoft.com/office/drawing/2014/main" id="{6B9F8A76-C5FA-28B5-2BCB-C5DCB6A13411}"/>
              </a:ext>
            </a:extLst>
          </p:cNvPr>
          <p:cNvSpPr/>
          <p:nvPr/>
        </p:nvSpPr>
        <p:spPr>
          <a:xfrm flipH="1">
            <a:off x="8913835" y="-792480"/>
            <a:ext cx="3640639" cy="3645196"/>
          </a:xfrm>
          <a:custGeom>
            <a:avLst/>
            <a:gdLst/>
            <a:ahLst/>
            <a:cxnLst/>
            <a:rect l="l" t="t" r="r" b="b"/>
            <a:pathLst>
              <a:path w="3640639" h="3645196">
                <a:moveTo>
                  <a:pt x="3640640" y="0"/>
                </a:moveTo>
                <a:lnTo>
                  <a:pt x="0" y="0"/>
                </a:lnTo>
                <a:lnTo>
                  <a:pt x="0" y="3645196"/>
                </a:lnTo>
                <a:lnTo>
                  <a:pt x="3640640" y="3645196"/>
                </a:lnTo>
                <a:lnTo>
                  <a:pt x="3640640" y="0"/>
                </a:lnTo>
                <a:close/>
              </a:path>
            </a:pathLst>
          </a:custGeom>
          <a:blipFill>
            <a:blip r:embed="rId3"/>
            <a:stretch>
              <a:fillRect/>
            </a:stretch>
          </a:blipFill>
        </p:spPr>
        <p:txBody>
          <a:bodyPr/>
          <a:lstStyle/>
          <a:p>
            <a:endParaRPr lang="en-US">
              <a:latin typeface="Times New Roman" panose="02020603050405020304" pitchFamily="18" charset="0"/>
              <a:cs typeface="Times New Roman" panose="02020603050405020304" pitchFamily="18" charset="0"/>
            </a:endParaRPr>
          </a:p>
        </p:txBody>
      </p:sp>
      <p:sp>
        <p:nvSpPr>
          <p:cNvPr id="5" name="Freeform 5">
            <a:extLst>
              <a:ext uri="{FF2B5EF4-FFF2-40B4-BE49-F238E27FC236}">
                <a16:creationId xmlns:a16="http://schemas.microsoft.com/office/drawing/2014/main" id="{788F9C7E-A007-E049-7CE9-5AAB8F4B97C5}"/>
              </a:ext>
            </a:extLst>
          </p:cNvPr>
          <p:cNvSpPr/>
          <p:nvPr/>
        </p:nvSpPr>
        <p:spPr>
          <a:xfrm rot="1279258">
            <a:off x="13552450" y="4568074"/>
            <a:ext cx="2699961" cy="2703340"/>
          </a:xfrm>
          <a:custGeom>
            <a:avLst/>
            <a:gdLst/>
            <a:ahLst/>
            <a:cxnLst/>
            <a:rect l="l" t="t" r="r" b="b"/>
            <a:pathLst>
              <a:path w="2699961" h="2703340">
                <a:moveTo>
                  <a:pt x="0" y="0"/>
                </a:moveTo>
                <a:lnTo>
                  <a:pt x="2699961" y="0"/>
                </a:lnTo>
                <a:lnTo>
                  <a:pt x="2699961" y="2703340"/>
                </a:lnTo>
                <a:lnTo>
                  <a:pt x="0" y="2703340"/>
                </a:lnTo>
                <a:lnTo>
                  <a:pt x="0" y="0"/>
                </a:lnTo>
                <a:close/>
              </a:path>
            </a:pathLst>
          </a:custGeom>
          <a:blipFill>
            <a:blip r:embed="rId3"/>
            <a:stretch>
              <a:fillRect/>
            </a:stretch>
          </a:blipFill>
        </p:spPr>
        <p:txBody>
          <a:bodyPr/>
          <a:lstStyle/>
          <a:p>
            <a:endParaRPr lang="en-US">
              <a:latin typeface="Times New Roman" panose="02020603050405020304" pitchFamily="18" charset="0"/>
              <a:cs typeface="Times New Roman" panose="02020603050405020304" pitchFamily="18" charset="0"/>
            </a:endParaRPr>
          </a:p>
        </p:txBody>
      </p:sp>
      <p:sp>
        <p:nvSpPr>
          <p:cNvPr id="6" name="Freeform 6">
            <a:extLst>
              <a:ext uri="{FF2B5EF4-FFF2-40B4-BE49-F238E27FC236}">
                <a16:creationId xmlns:a16="http://schemas.microsoft.com/office/drawing/2014/main" id="{EE4362BF-B503-75F2-A385-0595315167BF}"/>
              </a:ext>
            </a:extLst>
          </p:cNvPr>
          <p:cNvSpPr/>
          <p:nvPr/>
        </p:nvSpPr>
        <p:spPr>
          <a:xfrm>
            <a:off x="9545957" y="7397559"/>
            <a:ext cx="3783229" cy="2889441"/>
          </a:xfrm>
          <a:custGeom>
            <a:avLst/>
            <a:gdLst/>
            <a:ahLst/>
            <a:cxnLst/>
            <a:rect l="l" t="t" r="r" b="b"/>
            <a:pathLst>
              <a:path w="3783229" h="2889441">
                <a:moveTo>
                  <a:pt x="0" y="0"/>
                </a:moveTo>
                <a:lnTo>
                  <a:pt x="3783229" y="0"/>
                </a:lnTo>
                <a:lnTo>
                  <a:pt x="3783229" y="2889441"/>
                </a:lnTo>
                <a:lnTo>
                  <a:pt x="0" y="2889441"/>
                </a:lnTo>
                <a:lnTo>
                  <a:pt x="0" y="0"/>
                </a:lnTo>
                <a:close/>
              </a:path>
            </a:pathLst>
          </a:custGeom>
          <a:blipFill>
            <a:blip r:embed="rId4"/>
            <a:stretch>
              <a:fillRect/>
            </a:stretch>
          </a:blipFill>
        </p:spPr>
        <p:txBody>
          <a:bodyPr/>
          <a:lstStyle/>
          <a:p>
            <a:endParaRPr lang="en-US">
              <a:latin typeface="Times New Roman" panose="02020603050405020304" pitchFamily="18" charset="0"/>
              <a:cs typeface="Times New Roman" panose="02020603050405020304" pitchFamily="18" charset="0"/>
            </a:endParaRPr>
          </a:p>
        </p:txBody>
      </p:sp>
      <p:sp>
        <p:nvSpPr>
          <p:cNvPr id="7" name="Freeform 7">
            <a:extLst>
              <a:ext uri="{FF2B5EF4-FFF2-40B4-BE49-F238E27FC236}">
                <a16:creationId xmlns:a16="http://schemas.microsoft.com/office/drawing/2014/main" id="{9C674CF8-BBAA-1B24-0608-9A64D99D80A1}"/>
              </a:ext>
            </a:extLst>
          </p:cNvPr>
          <p:cNvSpPr/>
          <p:nvPr/>
        </p:nvSpPr>
        <p:spPr>
          <a:xfrm flipH="1">
            <a:off x="3296082" y="1602780"/>
            <a:ext cx="774474" cy="647654"/>
          </a:xfrm>
          <a:custGeom>
            <a:avLst/>
            <a:gdLst/>
            <a:ahLst/>
            <a:cxnLst/>
            <a:rect l="l" t="t" r="r" b="b"/>
            <a:pathLst>
              <a:path w="774474" h="647654">
                <a:moveTo>
                  <a:pt x="774474" y="0"/>
                </a:moveTo>
                <a:lnTo>
                  <a:pt x="0" y="0"/>
                </a:lnTo>
                <a:lnTo>
                  <a:pt x="0" y="647654"/>
                </a:lnTo>
                <a:lnTo>
                  <a:pt x="774474" y="647654"/>
                </a:lnTo>
                <a:lnTo>
                  <a:pt x="774474" y="0"/>
                </a:lnTo>
                <a:close/>
              </a:path>
            </a:pathLst>
          </a:custGeom>
          <a:blipFill>
            <a:blip r:embed="rId5"/>
            <a:stretch>
              <a:fillRect/>
            </a:stretch>
          </a:blipFill>
        </p:spPr>
        <p:txBody>
          <a:bodyPr/>
          <a:lstStyle/>
          <a:p>
            <a:endParaRPr lang="en-US">
              <a:latin typeface="Times New Roman" panose="02020603050405020304" pitchFamily="18" charset="0"/>
              <a:cs typeface="Times New Roman" panose="02020603050405020304" pitchFamily="18" charset="0"/>
            </a:endParaRPr>
          </a:p>
        </p:txBody>
      </p:sp>
      <p:sp>
        <p:nvSpPr>
          <p:cNvPr id="8" name="Freeform 8">
            <a:extLst>
              <a:ext uri="{FF2B5EF4-FFF2-40B4-BE49-F238E27FC236}">
                <a16:creationId xmlns:a16="http://schemas.microsoft.com/office/drawing/2014/main" id="{18185493-725F-CE55-BBA8-9278BE8D7AE6}"/>
              </a:ext>
            </a:extLst>
          </p:cNvPr>
          <p:cNvSpPr/>
          <p:nvPr/>
        </p:nvSpPr>
        <p:spPr>
          <a:xfrm>
            <a:off x="9130689" y="5498310"/>
            <a:ext cx="1755203" cy="1467788"/>
          </a:xfrm>
          <a:custGeom>
            <a:avLst/>
            <a:gdLst/>
            <a:ahLst/>
            <a:cxnLst/>
            <a:rect l="l" t="t" r="r" b="b"/>
            <a:pathLst>
              <a:path w="1755203" h="1467788">
                <a:moveTo>
                  <a:pt x="0" y="0"/>
                </a:moveTo>
                <a:lnTo>
                  <a:pt x="1755202" y="0"/>
                </a:lnTo>
                <a:lnTo>
                  <a:pt x="1755202" y="1467788"/>
                </a:lnTo>
                <a:lnTo>
                  <a:pt x="0" y="1467788"/>
                </a:lnTo>
                <a:lnTo>
                  <a:pt x="0" y="0"/>
                </a:lnTo>
                <a:close/>
              </a:path>
            </a:pathLst>
          </a:custGeom>
          <a:blipFill>
            <a:blip r:embed="rId5"/>
            <a:stretch>
              <a:fillRect/>
            </a:stretch>
          </a:blipFill>
        </p:spPr>
        <p:txBody>
          <a:bodyPr/>
          <a:lstStyle/>
          <a:p>
            <a:endParaRPr lang="en-US">
              <a:latin typeface="Times New Roman" panose="02020603050405020304" pitchFamily="18" charset="0"/>
              <a:cs typeface="Times New Roman" panose="02020603050405020304" pitchFamily="18" charset="0"/>
            </a:endParaRPr>
          </a:p>
        </p:txBody>
      </p:sp>
      <p:sp>
        <p:nvSpPr>
          <p:cNvPr id="9" name="Freeform 9">
            <a:extLst>
              <a:ext uri="{FF2B5EF4-FFF2-40B4-BE49-F238E27FC236}">
                <a16:creationId xmlns:a16="http://schemas.microsoft.com/office/drawing/2014/main" id="{39BB6955-553A-CCA4-0EF2-908561417D75}"/>
              </a:ext>
            </a:extLst>
          </p:cNvPr>
          <p:cNvSpPr/>
          <p:nvPr/>
        </p:nvSpPr>
        <p:spPr>
          <a:xfrm rot="-6042682" flipH="1">
            <a:off x="14188632" y="1507252"/>
            <a:ext cx="424824" cy="355259"/>
          </a:xfrm>
          <a:custGeom>
            <a:avLst/>
            <a:gdLst/>
            <a:ahLst/>
            <a:cxnLst/>
            <a:rect l="l" t="t" r="r" b="b"/>
            <a:pathLst>
              <a:path w="424824" h="355259">
                <a:moveTo>
                  <a:pt x="424823" y="0"/>
                </a:moveTo>
                <a:lnTo>
                  <a:pt x="0" y="0"/>
                </a:lnTo>
                <a:lnTo>
                  <a:pt x="0" y="355258"/>
                </a:lnTo>
                <a:lnTo>
                  <a:pt x="424823" y="355258"/>
                </a:lnTo>
                <a:lnTo>
                  <a:pt x="424823" y="0"/>
                </a:lnTo>
                <a:close/>
              </a:path>
            </a:pathLst>
          </a:custGeom>
          <a:blipFill>
            <a:blip r:embed="rId5"/>
            <a:stretch>
              <a:fillRect/>
            </a:stretch>
          </a:blipFill>
        </p:spPr>
        <p:txBody>
          <a:bodyPr/>
          <a:lstStyle/>
          <a:p>
            <a:endParaRPr lang="en-US">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D4ECA2D8-23AC-5E00-19DF-85256E1D016F}"/>
              </a:ext>
            </a:extLst>
          </p:cNvPr>
          <p:cNvSpPr txBox="1"/>
          <p:nvPr/>
        </p:nvSpPr>
        <p:spPr>
          <a:xfrm>
            <a:off x="2438400" y="3754005"/>
            <a:ext cx="9753600" cy="614720"/>
          </a:xfrm>
          <a:prstGeom prst="rect">
            <a:avLst/>
          </a:prstGeom>
          <a:noFill/>
        </p:spPr>
        <p:txBody>
          <a:bodyPr wrap="square">
            <a:spAutoFit/>
          </a:bodyPr>
          <a:lstStyle/>
          <a:p>
            <a:pPr marL="0" indent="0" algn="ctr">
              <a:lnSpc>
                <a:spcPts val="3402"/>
              </a:lnSpc>
              <a:buNone/>
            </a:pPr>
            <a:r>
              <a:rPr lang="en-US" sz="6500" dirty="0" smtClean="0">
                <a:solidFill>
                  <a:srgbClr val="D6BBEB"/>
                </a:solidFill>
                <a:latin typeface="Times New Roman" panose="02020603050405020304" pitchFamily="18" charset="0"/>
                <a:cs typeface="Times New Roman" panose="02020603050405020304" pitchFamily="18" charset="0"/>
              </a:rPr>
              <a:t>DEMO </a:t>
            </a:r>
            <a:r>
              <a:rPr lang="en-US" sz="6500" dirty="0" err="1" smtClean="0">
                <a:solidFill>
                  <a:srgbClr val="D6BBEB"/>
                </a:solidFill>
                <a:latin typeface="Times New Roman" panose="02020603050405020304" pitchFamily="18" charset="0"/>
                <a:cs typeface="Times New Roman" panose="02020603050405020304" pitchFamily="18" charset="0"/>
              </a:rPr>
              <a:t>Ứng</a:t>
            </a:r>
            <a:r>
              <a:rPr lang="en-US" sz="6500" dirty="0" smtClean="0">
                <a:solidFill>
                  <a:srgbClr val="D6BBEB"/>
                </a:solidFill>
                <a:latin typeface="Times New Roman" panose="02020603050405020304" pitchFamily="18" charset="0"/>
                <a:cs typeface="Times New Roman" panose="02020603050405020304" pitchFamily="18" charset="0"/>
              </a:rPr>
              <a:t> </a:t>
            </a:r>
            <a:r>
              <a:rPr lang="en-US" sz="6500" dirty="0" err="1" smtClean="0">
                <a:solidFill>
                  <a:srgbClr val="D6BBEB"/>
                </a:solidFill>
                <a:latin typeface="Times New Roman" panose="02020603050405020304" pitchFamily="18" charset="0"/>
                <a:cs typeface="Times New Roman" panose="02020603050405020304" pitchFamily="18" charset="0"/>
              </a:rPr>
              <a:t>Dụng</a:t>
            </a:r>
            <a:endParaRPr lang="en-US" sz="6500" dirty="0">
              <a:solidFill>
                <a:srgbClr val="D6BBEB"/>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9004113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Image 0" descr="preencoded.png">
            <a:extLst>
              <a:ext uri="{FF2B5EF4-FFF2-40B4-BE49-F238E27FC236}">
                <a16:creationId xmlns:a16="http://schemas.microsoft.com/office/drawing/2014/main" id="{CCB925E6-90A6-AC03-CB88-67C3C0645F70}"/>
              </a:ext>
            </a:extLst>
          </p:cNvPr>
          <p:cNvPicPr>
            <a:picLocks noChangeAspect="1"/>
          </p:cNvPicPr>
          <p:nvPr/>
        </p:nvPicPr>
        <p:blipFill>
          <a:blip r:embed="rId2"/>
          <a:stretch>
            <a:fillRect/>
          </a:stretch>
        </p:blipFill>
        <p:spPr>
          <a:xfrm>
            <a:off x="0" y="0"/>
            <a:ext cx="14630400" cy="8229600"/>
          </a:xfrm>
          <a:prstGeom prst="rect">
            <a:avLst/>
          </a:prstGeom>
        </p:spPr>
      </p:pic>
      <p:sp>
        <p:nvSpPr>
          <p:cNvPr id="13" name="Shape 0">
            <a:extLst>
              <a:ext uri="{FF2B5EF4-FFF2-40B4-BE49-F238E27FC236}">
                <a16:creationId xmlns:a16="http://schemas.microsoft.com/office/drawing/2014/main" id="{5442F095-F2E0-BD8A-F276-992CB0CA62CF}"/>
              </a:ext>
            </a:extLst>
          </p:cNvPr>
          <p:cNvSpPr/>
          <p:nvPr/>
        </p:nvSpPr>
        <p:spPr>
          <a:xfrm>
            <a:off x="-39901" y="-55478"/>
            <a:ext cx="14630400" cy="8230672"/>
          </a:xfrm>
          <a:prstGeom prst="rect">
            <a:avLst/>
          </a:prstGeom>
          <a:solidFill>
            <a:srgbClr val="0B0C23">
              <a:alpha val="75000"/>
            </a:srgbClr>
          </a:solidFill>
          <a:ln/>
        </p:spPr>
      </p:sp>
      <p:sp>
        <p:nvSpPr>
          <p:cNvPr id="3" name="Freeform 3">
            <a:extLst>
              <a:ext uri="{FF2B5EF4-FFF2-40B4-BE49-F238E27FC236}">
                <a16:creationId xmlns:a16="http://schemas.microsoft.com/office/drawing/2014/main" id="{AF66DB12-5B76-9A6D-7A75-2F7298F2DD90}"/>
              </a:ext>
            </a:extLst>
          </p:cNvPr>
          <p:cNvSpPr/>
          <p:nvPr/>
        </p:nvSpPr>
        <p:spPr>
          <a:xfrm>
            <a:off x="-2835802" y="1822598"/>
            <a:ext cx="6866457" cy="6875051"/>
          </a:xfrm>
          <a:custGeom>
            <a:avLst/>
            <a:gdLst/>
            <a:ahLst/>
            <a:cxnLst/>
            <a:rect l="l" t="t" r="r" b="b"/>
            <a:pathLst>
              <a:path w="6866457" h="6875051">
                <a:moveTo>
                  <a:pt x="0" y="0"/>
                </a:moveTo>
                <a:lnTo>
                  <a:pt x="6866457" y="0"/>
                </a:lnTo>
                <a:lnTo>
                  <a:pt x="6866457" y="6875051"/>
                </a:lnTo>
                <a:lnTo>
                  <a:pt x="0" y="6875051"/>
                </a:lnTo>
                <a:lnTo>
                  <a:pt x="0" y="0"/>
                </a:lnTo>
                <a:close/>
              </a:path>
            </a:pathLst>
          </a:custGeom>
          <a:blipFill>
            <a:blip r:embed="rId3"/>
            <a:stretch>
              <a:fillRect/>
            </a:stretch>
          </a:blipFill>
        </p:spPr>
        <p:txBody>
          <a:bodyPr/>
          <a:lstStyle/>
          <a:p>
            <a:endParaRPr lang="en-US">
              <a:latin typeface="Times New Roman" panose="02020603050405020304" pitchFamily="18" charset="0"/>
              <a:cs typeface="Times New Roman" panose="02020603050405020304" pitchFamily="18" charset="0"/>
            </a:endParaRPr>
          </a:p>
        </p:txBody>
      </p:sp>
      <p:sp>
        <p:nvSpPr>
          <p:cNvPr id="4" name="Freeform 4">
            <a:extLst>
              <a:ext uri="{FF2B5EF4-FFF2-40B4-BE49-F238E27FC236}">
                <a16:creationId xmlns:a16="http://schemas.microsoft.com/office/drawing/2014/main" id="{6B9F8A76-C5FA-28B5-2BCB-C5DCB6A13411}"/>
              </a:ext>
            </a:extLst>
          </p:cNvPr>
          <p:cNvSpPr/>
          <p:nvPr/>
        </p:nvSpPr>
        <p:spPr>
          <a:xfrm flipH="1">
            <a:off x="8913835" y="-792480"/>
            <a:ext cx="3640639" cy="3645196"/>
          </a:xfrm>
          <a:custGeom>
            <a:avLst/>
            <a:gdLst/>
            <a:ahLst/>
            <a:cxnLst/>
            <a:rect l="l" t="t" r="r" b="b"/>
            <a:pathLst>
              <a:path w="3640639" h="3645196">
                <a:moveTo>
                  <a:pt x="3640640" y="0"/>
                </a:moveTo>
                <a:lnTo>
                  <a:pt x="0" y="0"/>
                </a:lnTo>
                <a:lnTo>
                  <a:pt x="0" y="3645196"/>
                </a:lnTo>
                <a:lnTo>
                  <a:pt x="3640640" y="3645196"/>
                </a:lnTo>
                <a:lnTo>
                  <a:pt x="3640640" y="0"/>
                </a:lnTo>
                <a:close/>
              </a:path>
            </a:pathLst>
          </a:custGeom>
          <a:blipFill>
            <a:blip r:embed="rId3"/>
            <a:stretch>
              <a:fillRect/>
            </a:stretch>
          </a:blipFill>
        </p:spPr>
        <p:txBody>
          <a:bodyPr/>
          <a:lstStyle/>
          <a:p>
            <a:endParaRPr lang="en-US">
              <a:latin typeface="Times New Roman" panose="02020603050405020304" pitchFamily="18" charset="0"/>
              <a:cs typeface="Times New Roman" panose="02020603050405020304" pitchFamily="18" charset="0"/>
            </a:endParaRPr>
          </a:p>
        </p:txBody>
      </p:sp>
      <p:sp>
        <p:nvSpPr>
          <p:cNvPr id="5" name="Freeform 5">
            <a:extLst>
              <a:ext uri="{FF2B5EF4-FFF2-40B4-BE49-F238E27FC236}">
                <a16:creationId xmlns:a16="http://schemas.microsoft.com/office/drawing/2014/main" id="{788F9C7E-A007-E049-7CE9-5AAB8F4B97C5}"/>
              </a:ext>
            </a:extLst>
          </p:cNvPr>
          <p:cNvSpPr/>
          <p:nvPr/>
        </p:nvSpPr>
        <p:spPr>
          <a:xfrm rot="1279258">
            <a:off x="13552450" y="4568074"/>
            <a:ext cx="2699961" cy="2703340"/>
          </a:xfrm>
          <a:custGeom>
            <a:avLst/>
            <a:gdLst/>
            <a:ahLst/>
            <a:cxnLst/>
            <a:rect l="l" t="t" r="r" b="b"/>
            <a:pathLst>
              <a:path w="2699961" h="2703340">
                <a:moveTo>
                  <a:pt x="0" y="0"/>
                </a:moveTo>
                <a:lnTo>
                  <a:pt x="2699961" y="0"/>
                </a:lnTo>
                <a:lnTo>
                  <a:pt x="2699961" y="2703340"/>
                </a:lnTo>
                <a:lnTo>
                  <a:pt x="0" y="2703340"/>
                </a:lnTo>
                <a:lnTo>
                  <a:pt x="0" y="0"/>
                </a:lnTo>
                <a:close/>
              </a:path>
            </a:pathLst>
          </a:custGeom>
          <a:blipFill>
            <a:blip r:embed="rId3"/>
            <a:stretch>
              <a:fillRect/>
            </a:stretch>
          </a:blipFill>
        </p:spPr>
        <p:txBody>
          <a:bodyPr/>
          <a:lstStyle/>
          <a:p>
            <a:endParaRPr lang="en-US">
              <a:latin typeface="Times New Roman" panose="02020603050405020304" pitchFamily="18" charset="0"/>
              <a:cs typeface="Times New Roman" panose="02020603050405020304" pitchFamily="18" charset="0"/>
            </a:endParaRPr>
          </a:p>
        </p:txBody>
      </p:sp>
      <p:sp>
        <p:nvSpPr>
          <p:cNvPr id="6" name="Freeform 6">
            <a:extLst>
              <a:ext uri="{FF2B5EF4-FFF2-40B4-BE49-F238E27FC236}">
                <a16:creationId xmlns:a16="http://schemas.microsoft.com/office/drawing/2014/main" id="{EE4362BF-B503-75F2-A385-0595315167BF}"/>
              </a:ext>
            </a:extLst>
          </p:cNvPr>
          <p:cNvSpPr/>
          <p:nvPr/>
        </p:nvSpPr>
        <p:spPr>
          <a:xfrm>
            <a:off x="9545957" y="7397559"/>
            <a:ext cx="3783229" cy="2889441"/>
          </a:xfrm>
          <a:custGeom>
            <a:avLst/>
            <a:gdLst/>
            <a:ahLst/>
            <a:cxnLst/>
            <a:rect l="l" t="t" r="r" b="b"/>
            <a:pathLst>
              <a:path w="3783229" h="2889441">
                <a:moveTo>
                  <a:pt x="0" y="0"/>
                </a:moveTo>
                <a:lnTo>
                  <a:pt x="3783229" y="0"/>
                </a:lnTo>
                <a:lnTo>
                  <a:pt x="3783229" y="2889441"/>
                </a:lnTo>
                <a:lnTo>
                  <a:pt x="0" y="2889441"/>
                </a:lnTo>
                <a:lnTo>
                  <a:pt x="0" y="0"/>
                </a:lnTo>
                <a:close/>
              </a:path>
            </a:pathLst>
          </a:custGeom>
          <a:blipFill>
            <a:blip r:embed="rId4"/>
            <a:stretch>
              <a:fillRect/>
            </a:stretch>
          </a:blipFill>
        </p:spPr>
        <p:txBody>
          <a:bodyPr/>
          <a:lstStyle/>
          <a:p>
            <a:endParaRPr lang="en-US">
              <a:latin typeface="Times New Roman" panose="02020603050405020304" pitchFamily="18" charset="0"/>
              <a:cs typeface="Times New Roman" panose="02020603050405020304" pitchFamily="18" charset="0"/>
            </a:endParaRPr>
          </a:p>
        </p:txBody>
      </p:sp>
      <p:sp>
        <p:nvSpPr>
          <p:cNvPr id="7" name="Freeform 7">
            <a:extLst>
              <a:ext uri="{FF2B5EF4-FFF2-40B4-BE49-F238E27FC236}">
                <a16:creationId xmlns:a16="http://schemas.microsoft.com/office/drawing/2014/main" id="{9C674CF8-BBAA-1B24-0608-9A64D99D80A1}"/>
              </a:ext>
            </a:extLst>
          </p:cNvPr>
          <p:cNvSpPr/>
          <p:nvPr/>
        </p:nvSpPr>
        <p:spPr>
          <a:xfrm flipH="1">
            <a:off x="3296082" y="1602780"/>
            <a:ext cx="774474" cy="647654"/>
          </a:xfrm>
          <a:custGeom>
            <a:avLst/>
            <a:gdLst/>
            <a:ahLst/>
            <a:cxnLst/>
            <a:rect l="l" t="t" r="r" b="b"/>
            <a:pathLst>
              <a:path w="774474" h="647654">
                <a:moveTo>
                  <a:pt x="774474" y="0"/>
                </a:moveTo>
                <a:lnTo>
                  <a:pt x="0" y="0"/>
                </a:lnTo>
                <a:lnTo>
                  <a:pt x="0" y="647654"/>
                </a:lnTo>
                <a:lnTo>
                  <a:pt x="774474" y="647654"/>
                </a:lnTo>
                <a:lnTo>
                  <a:pt x="774474" y="0"/>
                </a:lnTo>
                <a:close/>
              </a:path>
            </a:pathLst>
          </a:custGeom>
          <a:blipFill>
            <a:blip r:embed="rId5"/>
            <a:stretch>
              <a:fillRect/>
            </a:stretch>
          </a:blipFill>
        </p:spPr>
        <p:txBody>
          <a:bodyPr/>
          <a:lstStyle/>
          <a:p>
            <a:endParaRPr lang="en-US">
              <a:latin typeface="Times New Roman" panose="02020603050405020304" pitchFamily="18" charset="0"/>
              <a:cs typeface="Times New Roman" panose="02020603050405020304" pitchFamily="18" charset="0"/>
            </a:endParaRPr>
          </a:p>
        </p:txBody>
      </p:sp>
      <p:sp>
        <p:nvSpPr>
          <p:cNvPr id="8" name="Freeform 8">
            <a:extLst>
              <a:ext uri="{FF2B5EF4-FFF2-40B4-BE49-F238E27FC236}">
                <a16:creationId xmlns:a16="http://schemas.microsoft.com/office/drawing/2014/main" id="{18185493-725F-CE55-BBA8-9278BE8D7AE6}"/>
              </a:ext>
            </a:extLst>
          </p:cNvPr>
          <p:cNvSpPr/>
          <p:nvPr/>
        </p:nvSpPr>
        <p:spPr>
          <a:xfrm>
            <a:off x="9130689" y="5498310"/>
            <a:ext cx="1755203" cy="1467788"/>
          </a:xfrm>
          <a:custGeom>
            <a:avLst/>
            <a:gdLst/>
            <a:ahLst/>
            <a:cxnLst/>
            <a:rect l="l" t="t" r="r" b="b"/>
            <a:pathLst>
              <a:path w="1755203" h="1467788">
                <a:moveTo>
                  <a:pt x="0" y="0"/>
                </a:moveTo>
                <a:lnTo>
                  <a:pt x="1755202" y="0"/>
                </a:lnTo>
                <a:lnTo>
                  <a:pt x="1755202" y="1467788"/>
                </a:lnTo>
                <a:lnTo>
                  <a:pt x="0" y="1467788"/>
                </a:lnTo>
                <a:lnTo>
                  <a:pt x="0" y="0"/>
                </a:lnTo>
                <a:close/>
              </a:path>
            </a:pathLst>
          </a:custGeom>
          <a:blipFill>
            <a:blip r:embed="rId5"/>
            <a:stretch>
              <a:fillRect/>
            </a:stretch>
          </a:blipFill>
        </p:spPr>
        <p:txBody>
          <a:bodyPr/>
          <a:lstStyle/>
          <a:p>
            <a:endParaRPr lang="en-US">
              <a:latin typeface="Times New Roman" panose="02020603050405020304" pitchFamily="18" charset="0"/>
              <a:cs typeface="Times New Roman" panose="02020603050405020304" pitchFamily="18" charset="0"/>
            </a:endParaRPr>
          </a:p>
        </p:txBody>
      </p:sp>
      <p:sp>
        <p:nvSpPr>
          <p:cNvPr id="9" name="Freeform 9">
            <a:extLst>
              <a:ext uri="{FF2B5EF4-FFF2-40B4-BE49-F238E27FC236}">
                <a16:creationId xmlns:a16="http://schemas.microsoft.com/office/drawing/2014/main" id="{39BB6955-553A-CCA4-0EF2-908561417D75}"/>
              </a:ext>
            </a:extLst>
          </p:cNvPr>
          <p:cNvSpPr/>
          <p:nvPr/>
        </p:nvSpPr>
        <p:spPr>
          <a:xfrm rot="-6042682" flipH="1">
            <a:off x="14188632" y="1507252"/>
            <a:ext cx="424824" cy="355259"/>
          </a:xfrm>
          <a:custGeom>
            <a:avLst/>
            <a:gdLst/>
            <a:ahLst/>
            <a:cxnLst/>
            <a:rect l="l" t="t" r="r" b="b"/>
            <a:pathLst>
              <a:path w="424824" h="355259">
                <a:moveTo>
                  <a:pt x="424823" y="0"/>
                </a:moveTo>
                <a:lnTo>
                  <a:pt x="0" y="0"/>
                </a:lnTo>
                <a:lnTo>
                  <a:pt x="0" y="355258"/>
                </a:lnTo>
                <a:lnTo>
                  <a:pt x="424823" y="355258"/>
                </a:lnTo>
                <a:lnTo>
                  <a:pt x="424823" y="0"/>
                </a:lnTo>
                <a:close/>
              </a:path>
            </a:pathLst>
          </a:custGeom>
          <a:blipFill>
            <a:blip r:embed="rId5"/>
            <a:stretch>
              <a:fillRect/>
            </a:stretch>
          </a:blipFill>
        </p:spPr>
        <p:txBody>
          <a:bodyPr/>
          <a:lstStyle/>
          <a:p>
            <a:endParaRPr lang="en-US">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D4ECA2D8-23AC-5E00-19DF-85256E1D016F}"/>
              </a:ext>
            </a:extLst>
          </p:cNvPr>
          <p:cNvSpPr txBox="1"/>
          <p:nvPr/>
        </p:nvSpPr>
        <p:spPr>
          <a:xfrm>
            <a:off x="2438400" y="3754005"/>
            <a:ext cx="9753600" cy="614720"/>
          </a:xfrm>
          <a:prstGeom prst="rect">
            <a:avLst/>
          </a:prstGeom>
          <a:noFill/>
        </p:spPr>
        <p:txBody>
          <a:bodyPr wrap="square">
            <a:spAutoFit/>
          </a:bodyPr>
          <a:lstStyle/>
          <a:p>
            <a:pPr marL="0" indent="0" algn="ctr">
              <a:lnSpc>
                <a:spcPts val="3402"/>
              </a:lnSpc>
              <a:buNone/>
            </a:pPr>
            <a:r>
              <a:rPr lang="vi-VN" sz="6500" dirty="0">
                <a:solidFill>
                  <a:srgbClr val="D6BBEB"/>
                </a:solidFill>
                <a:latin typeface="Times New Roman" panose="02020603050405020304" pitchFamily="18" charset="0"/>
                <a:cs typeface="Times New Roman" panose="02020603050405020304" pitchFamily="18" charset="0"/>
              </a:rPr>
              <a:t>KẾT LUẬN</a:t>
            </a:r>
            <a:endParaRPr lang="en-US" sz="6500" dirty="0">
              <a:solidFill>
                <a:srgbClr val="D6BBEB"/>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8974830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B0C23">
              <a:alpha val="75000"/>
            </a:srgbClr>
          </a:solidFill>
          <a:ln/>
        </p:spPr>
      </p:sp>
      <p:pic>
        <p:nvPicPr>
          <p:cNvPr id="4" name="Image 1" descr="preencoded.png"/>
          <p:cNvPicPr>
            <a:picLocks noChangeAspect="1"/>
          </p:cNvPicPr>
          <p:nvPr/>
        </p:nvPicPr>
        <p:blipFill>
          <a:blip r:embed="rId4"/>
          <a:stretch>
            <a:fillRect/>
          </a:stretch>
        </p:blipFill>
        <p:spPr>
          <a:xfrm>
            <a:off x="9144000" y="0"/>
            <a:ext cx="5486400" cy="8229600"/>
          </a:xfrm>
          <a:prstGeom prst="rect">
            <a:avLst/>
          </a:prstGeom>
        </p:spPr>
      </p:pic>
      <p:pic>
        <p:nvPicPr>
          <p:cNvPr id="5" name="Image 2" descr="preencoded.png"/>
          <p:cNvPicPr>
            <a:picLocks noChangeAspect="1"/>
          </p:cNvPicPr>
          <p:nvPr/>
        </p:nvPicPr>
        <p:blipFill>
          <a:blip r:embed="rId5"/>
          <a:stretch>
            <a:fillRect/>
          </a:stretch>
        </p:blipFill>
        <p:spPr>
          <a:xfrm>
            <a:off x="9401770" y="2250758"/>
            <a:ext cx="4970740" cy="3728085"/>
          </a:xfrm>
          <a:prstGeom prst="rect">
            <a:avLst/>
          </a:prstGeom>
        </p:spPr>
      </p:pic>
      <p:sp>
        <p:nvSpPr>
          <p:cNvPr id="6" name="Text 1"/>
          <p:cNvSpPr/>
          <p:nvPr/>
        </p:nvSpPr>
        <p:spPr>
          <a:xfrm>
            <a:off x="721757" y="1184791"/>
            <a:ext cx="6670357" cy="572810"/>
          </a:xfrm>
          <a:prstGeom prst="rect">
            <a:avLst/>
          </a:prstGeom>
          <a:noFill/>
          <a:ln/>
        </p:spPr>
        <p:txBody>
          <a:bodyPr wrap="none" rtlCol="0" anchor="t"/>
          <a:lstStyle/>
          <a:p>
            <a:pPr marL="0" indent="0">
              <a:lnSpc>
                <a:spcPts val="4510"/>
              </a:lnSpc>
              <a:buNone/>
            </a:pPr>
            <a:r>
              <a:rPr lang="en-US" sz="3608" dirty="0">
                <a:solidFill>
                  <a:srgbClr val="C6BFEE"/>
                </a:solidFill>
                <a:latin typeface="Times New Roman" panose="02020603050405020304" pitchFamily="18" charset="0"/>
                <a:ea typeface="Prompt" pitchFamily="34" charset="-122"/>
                <a:cs typeface="Times New Roman" panose="02020603050405020304" pitchFamily="18" charset="0"/>
              </a:rPr>
              <a:t>Kết Quả và Hướng Phát Triển</a:t>
            </a:r>
            <a:endParaRPr lang="en-US" sz="3608" dirty="0">
              <a:latin typeface="Times New Roman" panose="02020603050405020304" pitchFamily="18" charset="0"/>
              <a:cs typeface="Times New Roman" panose="02020603050405020304" pitchFamily="18" charset="0"/>
            </a:endParaRPr>
          </a:p>
        </p:txBody>
      </p:sp>
      <p:sp>
        <p:nvSpPr>
          <p:cNvPr id="7" name="Shape 2"/>
          <p:cNvSpPr/>
          <p:nvPr/>
        </p:nvSpPr>
        <p:spPr>
          <a:xfrm>
            <a:off x="721757" y="2298859"/>
            <a:ext cx="463987" cy="463987"/>
          </a:xfrm>
          <a:prstGeom prst="roundRect">
            <a:avLst>
              <a:gd name="adj" fmla="val 18667"/>
            </a:avLst>
          </a:prstGeom>
          <a:solidFill>
            <a:srgbClr val="542C49"/>
          </a:solidFill>
          <a:ln w="7620">
            <a:solidFill>
              <a:srgbClr val="6D4562"/>
            </a:solidFill>
            <a:prstDash val="solid"/>
          </a:ln>
        </p:spPr>
      </p:sp>
      <p:sp>
        <p:nvSpPr>
          <p:cNvPr id="8" name="Text 3"/>
          <p:cNvSpPr/>
          <p:nvPr/>
        </p:nvSpPr>
        <p:spPr>
          <a:xfrm>
            <a:off x="902256" y="2393394"/>
            <a:ext cx="102870" cy="274915"/>
          </a:xfrm>
          <a:prstGeom prst="rect">
            <a:avLst/>
          </a:prstGeom>
          <a:noFill/>
          <a:ln/>
        </p:spPr>
        <p:txBody>
          <a:bodyPr wrap="none" rtlCol="0" anchor="t"/>
          <a:lstStyle/>
          <a:p>
            <a:pPr marL="0" indent="0" algn="ctr">
              <a:lnSpc>
                <a:spcPts val="2165"/>
              </a:lnSpc>
              <a:buNone/>
            </a:pPr>
            <a:r>
              <a:rPr lang="en-US" sz="2165" dirty="0">
                <a:solidFill>
                  <a:srgbClr val="DAD8E9"/>
                </a:solidFill>
                <a:latin typeface="Times New Roman" panose="02020603050405020304" pitchFamily="18" charset="0"/>
                <a:ea typeface="Prompt" pitchFamily="34" charset="-122"/>
                <a:cs typeface="Times New Roman" panose="02020603050405020304" pitchFamily="18" charset="0"/>
              </a:rPr>
              <a:t>1</a:t>
            </a:r>
            <a:endParaRPr lang="en-US" sz="2165" dirty="0">
              <a:latin typeface="Times New Roman" panose="02020603050405020304" pitchFamily="18" charset="0"/>
              <a:cs typeface="Times New Roman" panose="02020603050405020304" pitchFamily="18" charset="0"/>
            </a:endParaRPr>
          </a:p>
        </p:txBody>
      </p:sp>
      <p:sp>
        <p:nvSpPr>
          <p:cNvPr id="9" name="Text 4"/>
          <p:cNvSpPr/>
          <p:nvPr/>
        </p:nvSpPr>
        <p:spPr>
          <a:xfrm>
            <a:off x="1391960" y="2298859"/>
            <a:ext cx="2291239" cy="286345"/>
          </a:xfrm>
          <a:prstGeom prst="rect">
            <a:avLst/>
          </a:prstGeom>
          <a:noFill/>
          <a:ln/>
        </p:spPr>
        <p:txBody>
          <a:bodyPr wrap="none" rtlCol="0" anchor="t"/>
          <a:lstStyle/>
          <a:p>
            <a:pPr marL="0" indent="0">
              <a:lnSpc>
                <a:spcPts val="2255"/>
              </a:lnSpc>
              <a:buNone/>
            </a:pPr>
            <a:r>
              <a:rPr lang="en-US" sz="1804" dirty="0">
                <a:solidFill>
                  <a:srgbClr val="DAD8E9"/>
                </a:solidFill>
                <a:latin typeface="Times New Roman" panose="02020603050405020304" pitchFamily="18" charset="0"/>
                <a:ea typeface="Prompt" pitchFamily="34" charset="-122"/>
                <a:cs typeface="Times New Roman" panose="02020603050405020304" pitchFamily="18" charset="0"/>
              </a:rPr>
              <a:t>Kết Quả Đạt Được</a:t>
            </a:r>
            <a:endParaRPr lang="en-US" sz="1804" dirty="0">
              <a:latin typeface="Times New Roman" panose="02020603050405020304" pitchFamily="18" charset="0"/>
              <a:cs typeface="Times New Roman" panose="02020603050405020304" pitchFamily="18" charset="0"/>
            </a:endParaRPr>
          </a:p>
        </p:txBody>
      </p:sp>
      <p:sp>
        <p:nvSpPr>
          <p:cNvPr id="10" name="Text 5"/>
          <p:cNvSpPr/>
          <p:nvPr/>
        </p:nvSpPr>
        <p:spPr>
          <a:xfrm>
            <a:off x="1391960" y="2708910"/>
            <a:ext cx="7030283" cy="989767"/>
          </a:xfrm>
          <a:prstGeom prst="rect">
            <a:avLst/>
          </a:prstGeom>
          <a:noFill/>
          <a:ln/>
        </p:spPr>
        <p:txBody>
          <a:bodyPr wrap="square" rtlCol="0" anchor="t"/>
          <a:lstStyle/>
          <a:p>
            <a:pPr marL="0" indent="0" algn="just">
              <a:lnSpc>
                <a:spcPts val="2598"/>
              </a:lnSpc>
              <a:buNone/>
            </a:pPr>
            <a:r>
              <a:rPr lang="en-US" sz="1624" dirty="0">
                <a:solidFill>
                  <a:srgbClr val="DAD8E9"/>
                </a:solidFill>
                <a:latin typeface="Times New Roman" panose="02020603050405020304" pitchFamily="18" charset="0"/>
                <a:ea typeface="Mukta" pitchFamily="34" charset="-122"/>
                <a:cs typeface="Times New Roman" panose="02020603050405020304" pitchFamily="18" charset="0"/>
              </a:rPr>
              <a:t>Hệ thống đã hoàn thành các chức năng cơ bản của một phần mềm quản lý đặt phòng khách sạn, bao gồm quản lý thông tin khách hàng, đặt phòng, thuê phòng, thanh toán, và quản lý thông tin khách sạn.</a:t>
            </a:r>
            <a:endParaRPr lang="en-US" sz="1624" dirty="0">
              <a:latin typeface="Times New Roman" panose="02020603050405020304" pitchFamily="18" charset="0"/>
              <a:cs typeface="Times New Roman" panose="02020603050405020304" pitchFamily="18" charset="0"/>
            </a:endParaRPr>
          </a:p>
        </p:txBody>
      </p:sp>
      <p:sp>
        <p:nvSpPr>
          <p:cNvPr id="11" name="Shape 6"/>
          <p:cNvSpPr/>
          <p:nvPr/>
        </p:nvSpPr>
        <p:spPr>
          <a:xfrm>
            <a:off x="721757" y="4136827"/>
            <a:ext cx="463987" cy="463987"/>
          </a:xfrm>
          <a:prstGeom prst="roundRect">
            <a:avLst>
              <a:gd name="adj" fmla="val 18667"/>
            </a:avLst>
          </a:prstGeom>
          <a:solidFill>
            <a:srgbClr val="542C49"/>
          </a:solidFill>
          <a:ln w="7620">
            <a:solidFill>
              <a:srgbClr val="6D4562"/>
            </a:solidFill>
            <a:prstDash val="solid"/>
          </a:ln>
        </p:spPr>
      </p:sp>
      <p:sp>
        <p:nvSpPr>
          <p:cNvPr id="12" name="Text 7"/>
          <p:cNvSpPr/>
          <p:nvPr/>
        </p:nvSpPr>
        <p:spPr>
          <a:xfrm>
            <a:off x="873323" y="4231362"/>
            <a:ext cx="160853" cy="274915"/>
          </a:xfrm>
          <a:prstGeom prst="rect">
            <a:avLst/>
          </a:prstGeom>
          <a:noFill/>
          <a:ln/>
        </p:spPr>
        <p:txBody>
          <a:bodyPr wrap="none" rtlCol="0" anchor="t"/>
          <a:lstStyle/>
          <a:p>
            <a:pPr marL="0" indent="0" algn="ctr">
              <a:lnSpc>
                <a:spcPts val="2165"/>
              </a:lnSpc>
              <a:buNone/>
            </a:pPr>
            <a:r>
              <a:rPr lang="en-US" sz="2165" dirty="0">
                <a:solidFill>
                  <a:srgbClr val="DAD8E9"/>
                </a:solidFill>
                <a:latin typeface="Times New Roman" panose="02020603050405020304" pitchFamily="18" charset="0"/>
                <a:ea typeface="Prompt" pitchFamily="34" charset="-122"/>
                <a:cs typeface="Times New Roman" panose="02020603050405020304" pitchFamily="18" charset="0"/>
              </a:rPr>
              <a:t>2</a:t>
            </a:r>
            <a:endParaRPr lang="en-US" sz="2165" dirty="0">
              <a:latin typeface="Times New Roman" panose="02020603050405020304" pitchFamily="18" charset="0"/>
              <a:cs typeface="Times New Roman" panose="02020603050405020304" pitchFamily="18" charset="0"/>
            </a:endParaRPr>
          </a:p>
        </p:txBody>
      </p:sp>
      <p:sp>
        <p:nvSpPr>
          <p:cNvPr id="13" name="Text 8"/>
          <p:cNvSpPr/>
          <p:nvPr/>
        </p:nvSpPr>
        <p:spPr>
          <a:xfrm>
            <a:off x="1391960" y="4136827"/>
            <a:ext cx="2291239" cy="286345"/>
          </a:xfrm>
          <a:prstGeom prst="rect">
            <a:avLst/>
          </a:prstGeom>
          <a:noFill/>
          <a:ln/>
        </p:spPr>
        <p:txBody>
          <a:bodyPr wrap="none" rtlCol="0" anchor="t"/>
          <a:lstStyle/>
          <a:p>
            <a:pPr marL="0" indent="0">
              <a:lnSpc>
                <a:spcPts val="2255"/>
              </a:lnSpc>
              <a:buNone/>
            </a:pPr>
            <a:r>
              <a:rPr lang="en-US" sz="1804" dirty="0">
                <a:solidFill>
                  <a:srgbClr val="DAD8E9"/>
                </a:solidFill>
                <a:latin typeface="Times New Roman" panose="02020603050405020304" pitchFamily="18" charset="0"/>
                <a:ea typeface="Prompt" pitchFamily="34" charset="-122"/>
                <a:cs typeface="Times New Roman" panose="02020603050405020304" pitchFamily="18" charset="0"/>
              </a:rPr>
              <a:t>Hạn Chế</a:t>
            </a:r>
            <a:endParaRPr lang="en-US" sz="1804" dirty="0">
              <a:latin typeface="Times New Roman" panose="02020603050405020304" pitchFamily="18" charset="0"/>
              <a:cs typeface="Times New Roman" panose="02020603050405020304" pitchFamily="18" charset="0"/>
            </a:endParaRPr>
          </a:p>
        </p:txBody>
      </p:sp>
      <p:sp>
        <p:nvSpPr>
          <p:cNvPr id="14" name="Text 9"/>
          <p:cNvSpPr/>
          <p:nvPr/>
        </p:nvSpPr>
        <p:spPr>
          <a:xfrm>
            <a:off x="1391960" y="4546878"/>
            <a:ext cx="7030283" cy="659844"/>
          </a:xfrm>
          <a:prstGeom prst="rect">
            <a:avLst/>
          </a:prstGeom>
          <a:noFill/>
          <a:ln/>
        </p:spPr>
        <p:txBody>
          <a:bodyPr wrap="square" rtlCol="0" anchor="t"/>
          <a:lstStyle/>
          <a:p>
            <a:pPr marL="0" indent="0" algn="just">
              <a:lnSpc>
                <a:spcPts val="2598"/>
              </a:lnSpc>
              <a:buNone/>
            </a:pPr>
            <a:r>
              <a:rPr lang="en-US" sz="1624" dirty="0">
                <a:solidFill>
                  <a:srgbClr val="DAD8E9"/>
                </a:solidFill>
                <a:latin typeface="Times New Roman" panose="02020603050405020304" pitchFamily="18" charset="0"/>
                <a:ea typeface="Mukta" pitchFamily="34" charset="-122"/>
                <a:cs typeface="Times New Roman" panose="02020603050405020304" pitchFamily="18" charset="0"/>
              </a:rPr>
              <a:t>Hệ thống mới chỉ hỗ trợ tiếng Việt, chưa có nhiều tính năng nâng cao như nhắn tin, thông báo, chương trình khuyến mãi, và tích hợp với các thiết bị di động.</a:t>
            </a:r>
            <a:endParaRPr lang="en-US" sz="1624" dirty="0">
              <a:latin typeface="Times New Roman" panose="02020603050405020304" pitchFamily="18" charset="0"/>
              <a:cs typeface="Times New Roman" panose="02020603050405020304" pitchFamily="18" charset="0"/>
            </a:endParaRPr>
          </a:p>
        </p:txBody>
      </p:sp>
      <p:sp>
        <p:nvSpPr>
          <p:cNvPr id="15" name="Shape 10"/>
          <p:cNvSpPr/>
          <p:nvPr/>
        </p:nvSpPr>
        <p:spPr>
          <a:xfrm>
            <a:off x="721757" y="5644872"/>
            <a:ext cx="463987" cy="463987"/>
          </a:xfrm>
          <a:prstGeom prst="roundRect">
            <a:avLst>
              <a:gd name="adj" fmla="val 18667"/>
            </a:avLst>
          </a:prstGeom>
          <a:solidFill>
            <a:srgbClr val="542C49"/>
          </a:solidFill>
          <a:ln w="7620">
            <a:solidFill>
              <a:srgbClr val="6D4562"/>
            </a:solidFill>
            <a:prstDash val="solid"/>
          </a:ln>
        </p:spPr>
      </p:sp>
      <p:sp>
        <p:nvSpPr>
          <p:cNvPr id="16" name="Text 11"/>
          <p:cNvSpPr/>
          <p:nvPr/>
        </p:nvSpPr>
        <p:spPr>
          <a:xfrm>
            <a:off x="873919" y="5739408"/>
            <a:ext cx="159544" cy="274915"/>
          </a:xfrm>
          <a:prstGeom prst="rect">
            <a:avLst/>
          </a:prstGeom>
          <a:noFill/>
          <a:ln/>
        </p:spPr>
        <p:txBody>
          <a:bodyPr wrap="none" rtlCol="0" anchor="t"/>
          <a:lstStyle/>
          <a:p>
            <a:pPr marL="0" indent="0" algn="ctr">
              <a:lnSpc>
                <a:spcPts val="2165"/>
              </a:lnSpc>
              <a:buNone/>
            </a:pPr>
            <a:r>
              <a:rPr lang="en-US" sz="2165" dirty="0">
                <a:solidFill>
                  <a:srgbClr val="DAD8E9"/>
                </a:solidFill>
                <a:latin typeface="Times New Roman" panose="02020603050405020304" pitchFamily="18" charset="0"/>
                <a:ea typeface="Prompt" pitchFamily="34" charset="-122"/>
                <a:cs typeface="Times New Roman" panose="02020603050405020304" pitchFamily="18" charset="0"/>
              </a:rPr>
              <a:t>3</a:t>
            </a:r>
            <a:endParaRPr lang="en-US" sz="2165" dirty="0">
              <a:latin typeface="Times New Roman" panose="02020603050405020304" pitchFamily="18" charset="0"/>
              <a:cs typeface="Times New Roman" panose="02020603050405020304" pitchFamily="18" charset="0"/>
            </a:endParaRPr>
          </a:p>
        </p:txBody>
      </p:sp>
      <p:sp>
        <p:nvSpPr>
          <p:cNvPr id="17" name="Text 12"/>
          <p:cNvSpPr/>
          <p:nvPr/>
        </p:nvSpPr>
        <p:spPr>
          <a:xfrm>
            <a:off x="1391960" y="5644872"/>
            <a:ext cx="2291239" cy="286345"/>
          </a:xfrm>
          <a:prstGeom prst="rect">
            <a:avLst/>
          </a:prstGeom>
          <a:noFill/>
          <a:ln/>
        </p:spPr>
        <p:txBody>
          <a:bodyPr wrap="none" rtlCol="0" anchor="t"/>
          <a:lstStyle/>
          <a:p>
            <a:pPr marL="0" indent="0">
              <a:lnSpc>
                <a:spcPts val="2255"/>
              </a:lnSpc>
              <a:buNone/>
            </a:pPr>
            <a:r>
              <a:rPr lang="en-US" sz="1804" dirty="0">
                <a:solidFill>
                  <a:srgbClr val="DAD8E9"/>
                </a:solidFill>
                <a:latin typeface="Times New Roman" panose="02020603050405020304" pitchFamily="18" charset="0"/>
                <a:ea typeface="Prompt" pitchFamily="34" charset="-122"/>
                <a:cs typeface="Times New Roman" panose="02020603050405020304" pitchFamily="18" charset="0"/>
              </a:rPr>
              <a:t>Hướng Phát Triển</a:t>
            </a:r>
            <a:endParaRPr lang="en-US" sz="1804" dirty="0">
              <a:latin typeface="Times New Roman" panose="02020603050405020304" pitchFamily="18" charset="0"/>
              <a:cs typeface="Times New Roman" panose="02020603050405020304" pitchFamily="18" charset="0"/>
            </a:endParaRPr>
          </a:p>
        </p:txBody>
      </p:sp>
      <p:sp>
        <p:nvSpPr>
          <p:cNvPr id="18" name="Text 13"/>
          <p:cNvSpPr/>
          <p:nvPr/>
        </p:nvSpPr>
        <p:spPr>
          <a:xfrm>
            <a:off x="1391960" y="6054923"/>
            <a:ext cx="7030283" cy="989767"/>
          </a:xfrm>
          <a:prstGeom prst="rect">
            <a:avLst/>
          </a:prstGeom>
          <a:noFill/>
          <a:ln/>
        </p:spPr>
        <p:txBody>
          <a:bodyPr wrap="square" rtlCol="0" anchor="t"/>
          <a:lstStyle/>
          <a:p>
            <a:pPr marL="0" indent="0" algn="just">
              <a:lnSpc>
                <a:spcPts val="2598"/>
              </a:lnSpc>
              <a:buNone/>
            </a:pPr>
            <a:r>
              <a:rPr lang="en-US" sz="1624" dirty="0">
                <a:solidFill>
                  <a:srgbClr val="DAD8E9"/>
                </a:solidFill>
                <a:latin typeface="Times New Roman" panose="02020603050405020304" pitchFamily="18" charset="0"/>
                <a:ea typeface="Mukta" pitchFamily="34" charset="-122"/>
                <a:cs typeface="Times New Roman" panose="02020603050405020304" pitchFamily="18" charset="0"/>
              </a:rPr>
              <a:t>Trong tương lai, hệ thống có thể được mở rộng với các tính năng như hỗ trợ đa ngôn ngữ, tích hợp trí tuệ nhân tạo để gợi ý và tối ưu hóa, và phát triển ứng dụng di động.</a:t>
            </a:r>
            <a:endParaRPr lang="en-US" sz="1624" dirty="0">
              <a:latin typeface="Times New Roman" panose="02020603050405020304" pitchFamily="18" charset="0"/>
              <a:cs typeface="Times New Roman" panose="02020603050405020304" pitchFamily="18" charset="0"/>
            </a:endParaRPr>
          </a:p>
        </p:txBody>
      </p:sp>
      <p:sp>
        <p:nvSpPr>
          <p:cNvPr id="20" name="Freeform 5">
            <a:extLst>
              <a:ext uri="{FF2B5EF4-FFF2-40B4-BE49-F238E27FC236}">
                <a16:creationId xmlns:a16="http://schemas.microsoft.com/office/drawing/2014/main" id="{72166B41-B0B9-394F-2730-04A69CB566BA}"/>
              </a:ext>
            </a:extLst>
          </p:cNvPr>
          <p:cNvSpPr/>
          <p:nvPr/>
        </p:nvSpPr>
        <p:spPr>
          <a:xfrm rot="1906180">
            <a:off x="-3577460" y="-973202"/>
            <a:ext cx="3923842" cy="4305038"/>
          </a:xfrm>
          <a:custGeom>
            <a:avLst/>
            <a:gdLst/>
            <a:ahLst/>
            <a:cxnLst/>
            <a:rect l="l" t="t" r="r" b="b"/>
            <a:pathLst>
              <a:path w="6282382" h="6378053">
                <a:moveTo>
                  <a:pt x="0" y="0"/>
                </a:moveTo>
                <a:lnTo>
                  <a:pt x="6282382" y="0"/>
                </a:lnTo>
                <a:lnTo>
                  <a:pt x="6282382" y="6378053"/>
                </a:lnTo>
                <a:lnTo>
                  <a:pt x="0" y="6378053"/>
                </a:lnTo>
                <a:lnTo>
                  <a:pt x="0" y="0"/>
                </a:lnTo>
                <a:close/>
              </a:path>
            </a:pathLst>
          </a:custGeom>
          <a:blipFill>
            <a:blip r:embed="rId6"/>
            <a:stretch>
              <a:fillRect/>
            </a:stretch>
          </a:blipFill>
        </p:spPr>
      </p:sp>
      <p:sp>
        <p:nvSpPr>
          <p:cNvPr id="21" name="Freeform 15">
            <a:extLst>
              <a:ext uri="{FF2B5EF4-FFF2-40B4-BE49-F238E27FC236}">
                <a16:creationId xmlns:a16="http://schemas.microsoft.com/office/drawing/2014/main" id="{1325BF25-BCA4-5CA0-9582-912D24BAECCB}"/>
              </a:ext>
            </a:extLst>
          </p:cNvPr>
          <p:cNvSpPr/>
          <p:nvPr/>
        </p:nvSpPr>
        <p:spPr>
          <a:xfrm rot="19365055">
            <a:off x="4374152" y="7895539"/>
            <a:ext cx="7210834" cy="5994006"/>
          </a:xfrm>
          <a:custGeom>
            <a:avLst/>
            <a:gdLst/>
            <a:ahLst/>
            <a:cxnLst/>
            <a:rect l="l" t="t" r="r" b="b"/>
            <a:pathLst>
              <a:path w="7210834" h="5994006">
                <a:moveTo>
                  <a:pt x="0" y="0"/>
                </a:moveTo>
                <a:lnTo>
                  <a:pt x="7210834" y="0"/>
                </a:lnTo>
                <a:lnTo>
                  <a:pt x="7210834" y="5994006"/>
                </a:lnTo>
                <a:lnTo>
                  <a:pt x="0" y="5994006"/>
                </a:lnTo>
                <a:lnTo>
                  <a:pt x="0" y="0"/>
                </a:lnTo>
                <a:close/>
              </a:path>
            </a:pathLst>
          </a:custGeom>
          <a:blipFill>
            <a:blip r:embed="rId7"/>
            <a:stretch>
              <a:fillRect/>
            </a:stretch>
          </a:blipFill>
        </p:spPr>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Image 0" descr="preencoded.png">
            <a:extLst>
              <a:ext uri="{FF2B5EF4-FFF2-40B4-BE49-F238E27FC236}">
                <a16:creationId xmlns:a16="http://schemas.microsoft.com/office/drawing/2014/main" id="{CCB925E6-90A6-AC03-CB88-67C3C0645F70}"/>
              </a:ext>
            </a:extLst>
          </p:cNvPr>
          <p:cNvPicPr>
            <a:picLocks noChangeAspect="1"/>
          </p:cNvPicPr>
          <p:nvPr/>
        </p:nvPicPr>
        <p:blipFill>
          <a:blip r:embed="rId2"/>
          <a:stretch>
            <a:fillRect/>
          </a:stretch>
        </p:blipFill>
        <p:spPr>
          <a:xfrm>
            <a:off x="0" y="0"/>
            <a:ext cx="14630400" cy="8229600"/>
          </a:xfrm>
          <a:prstGeom prst="rect">
            <a:avLst/>
          </a:prstGeom>
        </p:spPr>
      </p:pic>
      <p:sp>
        <p:nvSpPr>
          <p:cNvPr id="13" name="Shape 0">
            <a:extLst>
              <a:ext uri="{FF2B5EF4-FFF2-40B4-BE49-F238E27FC236}">
                <a16:creationId xmlns:a16="http://schemas.microsoft.com/office/drawing/2014/main" id="{5442F095-F2E0-BD8A-F276-992CB0CA62CF}"/>
              </a:ext>
            </a:extLst>
          </p:cNvPr>
          <p:cNvSpPr/>
          <p:nvPr/>
        </p:nvSpPr>
        <p:spPr>
          <a:xfrm>
            <a:off x="-39901" y="-55478"/>
            <a:ext cx="14630400" cy="8230672"/>
          </a:xfrm>
          <a:prstGeom prst="rect">
            <a:avLst/>
          </a:prstGeom>
          <a:solidFill>
            <a:srgbClr val="0B0C23">
              <a:alpha val="75000"/>
            </a:srgbClr>
          </a:solidFill>
          <a:ln/>
        </p:spPr>
      </p:sp>
      <p:sp>
        <p:nvSpPr>
          <p:cNvPr id="3" name="Freeform 3">
            <a:extLst>
              <a:ext uri="{FF2B5EF4-FFF2-40B4-BE49-F238E27FC236}">
                <a16:creationId xmlns:a16="http://schemas.microsoft.com/office/drawing/2014/main" id="{AF66DB12-5B76-9A6D-7A75-2F7298F2DD90}"/>
              </a:ext>
            </a:extLst>
          </p:cNvPr>
          <p:cNvSpPr/>
          <p:nvPr/>
        </p:nvSpPr>
        <p:spPr>
          <a:xfrm>
            <a:off x="-2835802" y="1822598"/>
            <a:ext cx="6866457" cy="6875051"/>
          </a:xfrm>
          <a:custGeom>
            <a:avLst/>
            <a:gdLst/>
            <a:ahLst/>
            <a:cxnLst/>
            <a:rect l="l" t="t" r="r" b="b"/>
            <a:pathLst>
              <a:path w="6866457" h="6875051">
                <a:moveTo>
                  <a:pt x="0" y="0"/>
                </a:moveTo>
                <a:lnTo>
                  <a:pt x="6866457" y="0"/>
                </a:lnTo>
                <a:lnTo>
                  <a:pt x="6866457" y="6875051"/>
                </a:lnTo>
                <a:lnTo>
                  <a:pt x="0" y="6875051"/>
                </a:lnTo>
                <a:lnTo>
                  <a:pt x="0" y="0"/>
                </a:lnTo>
                <a:close/>
              </a:path>
            </a:pathLst>
          </a:custGeom>
          <a:blipFill>
            <a:blip r:embed="rId3"/>
            <a:stretch>
              <a:fillRect/>
            </a:stretch>
          </a:blipFill>
        </p:spPr>
        <p:txBody>
          <a:bodyPr/>
          <a:lstStyle/>
          <a:p>
            <a:endParaRPr lang="en-US">
              <a:latin typeface="Times New Roman" panose="02020603050405020304" pitchFamily="18" charset="0"/>
              <a:cs typeface="Times New Roman" panose="02020603050405020304" pitchFamily="18" charset="0"/>
            </a:endParaRPr>
          </a:p>
        </p:txBody>
      </p:sp>
      <p:sp>
        <p:nvSpPr>
          <p:cNvPr id="4" name="Freeform 4">
            <a:extLst>
              <a:ext uri="{FF2B5EF4-FFF2-40B4-BE49-F238E27FC236}">
                <a16:creationId xmlns:a16="http://schemas.microsoft.com/office/drawing/2014/main" id="{6B9F8A76-C5FA-28B5-2BCB-C5DCB6A13411}"/>
              </a:ext>
            </a:extLst>
          </p:cNvPr>
          <p:cNvSpPr/>
          <p:nvPr/>
        </p:nvSpPr>
        <p:spPr>
          <a:xfrm flipH="1">
            <a:off x="8913835" y="-792480"/>
            <a:ext cx="3640639" cy="3645196"/>
          </a:xfrm>
          <a:custGeom>
            <a:avLst/>
            <a:gdLst/>
            <a:ahLst/>
            <a:cxnLst/>
            <a:rect l="l" t="t" r="r" b="b"/>
            <a:pathLst>
              <a:path w="3640639" h="3645196">
                <a:moveTo>
                  <a:pt x="3640640" y="0"/>
                </a:moveTo>
                <a:lnTo>
                  <a:pt x="0" y="0"/>
                </a:lnTo>
                <a:lnTo>
                  <a:pt x="0" y="3645196"/>
                </a:lnTo>
                <a:lnTo>
                  <a:pt x="3640640" y="3645196"/>
                </a:lnTo>
                <a:lnTo>
                  <a:pt x="3640640" y="0"/>
                </a:lnTo>
                <a:close/>
              </a:path>
            </a:pathLst>
          </a:custGeom>
          <a:blipFill>
            <a:blip r:embed="rId3"/>
            <a:stretch>
              <a:fillRect/>
            </a:stretch>
          </a:blipFill>
        </p:spPr>
        <p:txBody>
          <a:bodyPr/>
          <a:lstStyle/>
          <a:p>
            <a:endParaRPr lang="en-US">
              <a:latin typeface="Times New Roman" panose="02020603050405020304" pitchFamily="18" charset="0"/>
              <a:cs typeface="Times New Roman" panose="02020603050405020304" pitchFamily="18" charset="0"/>
            </a:endParaRPr>
          </a:p>
        </p:txBody>
      </p:sp>
      <p:sp>
        <p:nvSpPr>
          <p:cNvPr id="5" name="Freeform 5">
            <a:extLst>
              <a:ext uri="{FF2B5EF4-FFF2-40B4-BE49-F238E27FC236}">
                <a16:creationId xmlns:a16="http://schemas.microsoft.com/office/drawing/2014/main" id="{788F9C7E-A007-E049-7CE9-5AAB8F4B97C5}"/>
              </a:ext>
            </a:extLst>
          </p:cNvPr>
          <p:cNvSpPr/>
          <p:nvPr/>
        </p:nvSpPr>
        <p:spPr>
          <a:xfrm rot="1279258">
            <a:off x="13552450" y="4568074"/>
            <a:ext cx="2699961" cy="2703340"/>
          </a:xfrm>
          <a:custGeom>
            <a:avLst/>
            <a:gdLst/>
            <a:ahLst/>
            <a:cxnLst/>
            <a:rect l="l" t="t" r="r" b="b"/>
            <a:pathLst>
              <a:path w="2699961" h="2703340">
                <a:moveTo>
                  <a:pt x="0" y="0"/>
                </a:moveTo>
                <a:lnTo>
                  <a:pt x="2699961" y="0"/>
                </a:lnTo>
                <a:lnTo>
                  <a:pt x="2699961" y="2703340"/>
                </a:lnTo>
                <a:lnTo>
                  <a:pt x="0" y="2703340"/>
                </a:lnTo>
                <a:lnTo>
                  <a:pt x="0" y="0"/>
                </a:lnTo>
                <a:close/>
              </a:path>
            </a:pathLst>
          </a:custGeom>
          <a:blipFill>
            <a:blip r:embed="rId3"/>
            <a:stretch>
              <a:fillRect/>
            </a:stretch>
          </a:blipFill>
        </p:spPr>
        <p:txBody>
          <a:bodyPr/>
          <a:lstStyle/>
          <a:p>
            <a:endParaRPr lang="en-US">
              <a:latin typeface="Times New Roman" panose="02020603050405020304" pitchFamily="18" charset="0"/>
              <a:cs typeface="Times New Roman" panose="02020603050405020304" pitchFamily="18" charset="0"/>
            </a:endParaRPr>
          </a:p>
        </p:txBody>
      </p:sp>
      <p:sp>
        <p:nvSpPr>
          <p:cNvPr id="6" name="Freeform 6">
            <a:extLst>
              <a:ext uri="{FF2B5EF4-FFF2-40B4-BE49-F238E27FC236}">
                <a16:creationId xmlns:a16="http://schemas.microsoft.com/office/drawing/2014/main" id="{EE4362BF-B503-75F2-A385-0595315167BF}"/>
              </a:ext>
            </a:extLst>
          </p:cNvPr>
          <p:cNvSpPr/>
          <p:nvPr/>
        </p:nvSpPr>
        <p:spPr>
          <a:xfrm>
            <a:off x="9545957" y="7397559"/>
            <a:ext cx="3783229" cy="2889441"/>
          </a:xfrm>
          <a:custGeom>
            <a:avLst/>
            <a:gdLst/>
            <a:ahLst/>
            <a:cxnLst/>
            <a:rect l="l" t="t" r="r" b="b"/>
            <a:pathLst>
              <a:path w="3783229" h="2889441">
                <a:moveTo>
                  <a:pt x="0" y="0"/>
                </a:moveTo>
                <a:lnTo>
                  <a:pt x="3783229" y="0"/>
                </a:lnTo>
                <a:lnTo>
                  <a:pt x="3783229" y="2889441"/>
                </a:lnTo>
                <a:lnTo>
                  <a:pt x="0" y="2889441"/>
                </a:lnTo>
                <a:lnTo>
                  <a:pt x="0" y="0"/>
                </a:lnTo>
                <a:close/>
              </a:path>
            </a:pathLst>
          </a:custGeom>
          <a:blipFill>
            <a:blip r:embed="rId4"/>
            <a:stretch>
              <a:fillRect/>
            </a:stretch>
          </a:blipFill>
        </p:spPr>
        <p:txBody>
          <a:bodyPr/>
          <a:lstStyle/>
          <a:p>
            <a:endParaRPr lang="en-US">
              <a:latin typeface="Times New Roman" panose="02020603050405020304" pitchFamily="18" charset="0"/>
              <a:cs typeface="Times New Roman" panose="02020603050405020304" pitchFamily="18" charset="0"/>
            </a:endParaRPr>
          </a:p>
        </p:txBody>
      </p:sp>
      <p:sp>
        <p:nvSpPr>
          <p:cNvPr id="7" name="Freeform 7">
            <a:extLst>
              <a:ext uri="{FF2B5EF4-FFF2-40B4-BE49-F238E27FC236}">
                <a16:creationId xmlns:a16="http://schemas.microsoft.com/office/drawing/2014/main" id="{9C674CF8-BBAA-1B24-0608-9A64D99D80A1}"/>
              </a:ext>
            </a:extLst>
          </p:cNvPr>
          <p:cNvSpPr/>
          <p:nvPr/>
        </p:nvSpPr>
        <p:spPr>
          <a:xfrm flipH="1">
            <a:off x="3296082" y="1602780"/>
            <a:ext cx="774474" cy="647654"/>
          </a:xfrm>
          <a:custGeom>
            <a:avLst/>
            <a:gdLst/>
            <a:ahLst/>
            <a:cxnLst/>
            <a:rect l="l" t="t" r="r" b="b"/>
            <a:pathLst>
              <a:path w="774474" h="647654">
                <a:moveTo>
                  <a:pt x="774474" y="0"/>
                </a:moveTo>
                <a:lnTo>
                  <a:pt x="0" y="0"/>
                </a:lnTo>
                <a:lnTo>
                  <a:pt x="0" y="647654"/>
                </a:lnTo>
                <a:lnTo>
                  <a:pt x="774474" y="647654"/>
                </a:lnTo>
                <a:lnTo>
                  <a:pt x="774474" y="0"/>
                </a:lnTo>
                <a:close/>
              </a:path>
            </a:pathLst>
          </a:custGeom>
          <a:blipFill>
            <a:blip r:embed="rId5"/>
            <a:stretch>
              <a:fillRect/>
            </a:stretch>
          </a:blipFill>
        </p:spPr>
        <p:txBody>
          <a:bodyPr/>
          <a:lstStyle/>
          <a:p>
            <a:endParaRPr lang="en-US">
              <a:latin typeface="Times New Roman" panose="02020603050405020304" pitchFamily="18" charset="0"/>
              <a:cs typeface="Times New Roman" panose="02020603050405020304" pitchFamily="18" charset="0"/>
            </a:endParaRPr>
          </a:p>
        </p:txBody>
      </p:sp>
      <p:sp>
        <p:nvSpPr>
          <p:cNvPr id="8" name="Freeform 8">
            <a:extLst>
              <a:ext uri="{FF2B5EF4-FFF2-40B4-BE49-F238E27FC236}">
                <a16:creationId xmlns:a16="http://schemas.microsoft.com/office/drawing/2014/main" id="{18185493-725F-CE55-BBA8-9278BE8D7AE6}"/>
              </a:ext>
            </a:extLst>
          </p:cNvPr>
          <p:cNvSpPr/>
          <p:nvPr/>
        </p:nvSpPr>
        <p:spPr>
          <a:xfrm>
            <a:off x="9130689" y="5498310"/>
            <a:ext cx="1755203" cy="1467788"/>
          </a:xfrm>
          <a:custGeom>
            <a:avLst/>
            <a:gdLst/>
            <a:ahLst/>
            <a:cxnLst/>
            <a:rect l="l" t="t" r="r" b="b"/>
            <a:pathLst>
              <a:path w="1755203" h="1467788">
                <a:moveTo>
                  <a:pt x="0" y="0"/>
                </a:moveTo>
                <a:lnTo>
                  <a:pt x="1755202" y="0"/>
                </a:lnTo>
                <a:lnTo>
                  <a:pt x="1755202" y="1467788"/>
                </a:lnTo>
                <a:lnTo>
                  <a:pt x="0" y="1467788"/>
                </a:lnTo>
                <a:lnTo>
                  <a:pt x="0" y="0"/>
                </a:lnTo>
                <a:close/>
              </a:path>
            </a:pathLst>
          </a:custGeom>
          <a:blipFill>
            <a:blip r:embed="rId5"/>
            <a:stretch>
              <a:fillRect/>
            </a:stretch>
          </a:blipFill>
        </p:spPr>
        <p:txBody>
          <a:bodyPr/>
          <a:lstStyle/>
          <a:p>
            <a:endParaRPr lang="en-US">
              <a:latin typeface="Times New Roman" panose="02020603050405020304" pitchFamily="18" charset="0"/>
              <a:cs typeface="Times New Roman" panose="02020603050405020304" pitchFamily="18" charset="0"/>
            </a:endParaRPr>
          </a:p>
        </p:txBody>
      </p:sp>
      <p:sp>
        <p:nvSpPr>
          <p:cNvPr id="9" name="Freeform 9">
            <a:extLst>
              <a:ext uri="{FF2B5EF4-FFF2-40B4-BE49-F238E27FC236}">
                <a16:creationId xmlns:a16="http://schemas.microsoft.com/office/drawing/2014/main" id="{39BB6955-553A-CCA4-0EF2-908561417D75}"/>
              </a:ext>
            </a:extLst>
          </p:cNvPr>
          <p:cNvSpPr/>
          <p:nvPr/>
        </p:nvSpPr>
        <p:spPr>
          <a:xfrm rot="-6042682" flipH="1">
            <a:off x="14188632" y="1507252"/>
            <a:ext cx="424824" cy="355259"/>
          </a:xfrm>
          <a:custGeom>
            <a:avLst/>
            <a:gdLst/>
            <a:ahLst/>
            <a:cxnLst/>
            <a:rect l="l" t="t" r="r" b="b"/>
            <a:pathLst>
              <a:path w="424824" h="355259">
                <a:moveTo>
                  <a:pt x="424823" y="0"/>
                </a:moveTo>
                <a:lnTo>
                  <a:pt x="0" y="0"/>
                </a:lnTo>
                <a:lnTo>
                  <a:pt x="0" y="355258"/>
                </a:lnTo>
                <a:lnTo>
                  <a:pt x="424823" y="355258"/>
                </a:lnTo>
                <a:lnTo>
                  <a:pt x="424823" y="0"/>
                </a:lnTo>
                <a:close/>
              </a:path>
            </a:pathLst>
          </a:custGeom>
          <a:blipFill>
            <a:blip r:embed="rId5"/>
            <a:stretch>
              <a:fillRect/>
            </a:stretch>
          </a:blipFill>
        </p:spPr>
        <p:txBody>
          <a:bodyPr/>
          <a:lstStyle/>
          <a:p>
            <a:endParaRPr lang="en-US">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D4ECA2D8-23AC-5E00-19DF-85256E1D016F}"/>
              </a:ext>
            </a:extLst>
          </p:cNvPr>
          <p:cNvSpPr txBox="1"/>
          <p:nvPr/>
        </p:nvSpPr>
        <p:spPr>
          <a:xfrm>
            <a:off x="485615" y="3476288"/>
            <a:ext cx="13039263" cy="1836400"/>
          </a:xfrm>
          <a:prstGeom prst="rect">
            <a:avLst/>
          </a:prstGeom>
          <a:noFill/>
        </p:spPr>
        <p:txBody>
          <a:bodyPr wrap="square">
            <a:spAutoFit/>
          </a:bodyPr>
          <a:lstStyle/>
          <a:p>
            <a:pPr marL="0" indent="0" algn="ctr">
              <a:lnSpc>
                <a:spcPts val="3402"/>
              </a:lnSpc>
              <a:buNone/>
            </a:pPr>
            <a:r>
              <a:rPr lang="en-US" sz="8800" dirty="0" smtClean="0">
                <a:solidFill>
                  <a:srgbClr val="00B0F0"/>
                </a:solidFill>
                <a:latin typeface="Times New Roman" panose="02020603050405020304" pitchFamily="18" charset="0"/>
                <a:cs typeface="Times New Roman" panose="02020603050405020304" pitchFamily="18" charset="0"/>
              </a:rPr>
              <a:t>THANKS FOR</a:t>
            </a:r>
          </a:p>
          <a:p>
            <a:pPr marL="0" indent="0" algn="ctr">
              <a:lnSpc>
                <a:spcPts val="3402"/>
              </a:lnSpc>
              <a:buNone/>
            </a:pPr>
            <a:endParaRPr lang="en-US" sz="8800" dirty="0">
              <a:solidFill>
                <a:srgbClr val="00B0F0"/>
              </a:solidFill>
              <a:latin typeface="Times New Roman" panose="02020603050405020304" pitchFamily="18" charset="0"/>
              <a:cs typeface="Times New Roman" panose="02020603050405020304" pitchFamily="18" charset="0"/>
            </a:endParaRPr>
          </a:p>
          <a:p>
            <a:pPr marL="0" indent="0" algn="ctr">
              <a:lnSpc>
                <a:spcPts val="3402"/>
              </a:lnSpc>
              <a:buNone/>
            </a:pPr>
            <a:endParaRPr lang="en-US" sz="8800" dirty="0">
              <a:solidFill>
                <a:srgbClr val="00B0F0"/>
              </a:solidFill>
              <a:latin typeface="Times New Roman" panose="02020603050405020304" pitchFamily="18" charset="0"/>
              <a:cs typeface="Times New Roman" panose="02020603050405020304" pitchFamily="18" charset="0"/>
            </a:endParaRPr>
          </a:p>
          <a:p>
            <a:pPr marL="0" indent="0" algn="ctr">
              <a:lnSpc>
                <a:spcPts val="3402"/>
              </a:lnSpc>
              <a:buNone/>
            </a:pPr>
            <a:r>
              <a:rPr lang="en-US" sz="8800" dirty="0" smtClean="0">
                <a:solidFill>
                  <a:srgbClr val="00B0F0"/>
                </a:solidFill>
                <a:latin typeface="Times New Roman" panose="02020603050405020304" pitchFamily="18" charset="0"/>
                <a:cs typeface="Times New Roman" panose="02020603050405020304" pitchFamily="18" charset="0"/>
              </a:rPr>
              <a:t> WATCHING</a:t>
            </a:r>
            <a:endParaRPr lang="en-US" sz="8800" dirty="0">
              <a:solidFill>
                <a:srgbClr val="00B0F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4443358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134</TotalTime>
  <Words>813</Words>
  <Application>Microsoft Office PowerPoint</Application>
  <PresentationFormat>Custom</PresentationFormat>
  <Paragraphs>64</Paragraphs>
  <Slides>10</Slides>
  <Notes>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Arial</vt:lpstr>
      <vt:lpstr>Calibri</vt:lpstr>
      <vt:lpstr>Mukta</vt:lpstr>
      <vt:lpstr>Prompt</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Trieu Vy</cp:lastModifiedBy>
  <cp:revision>7</cp:revision>
  <dcterms:created xsi:type="dcterms:W3CDTF">2024-07-27T06:06:57Z</dcterms:created>
  <dcterms:modified xsi:type="dcterms:W3CDTF">2024-07-31T09:03:50Z</dcterms:modified>
</cp:coreProperties>
</file>